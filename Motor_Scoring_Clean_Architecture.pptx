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76" r:id="rId3"/>
    <p:sldId id="277" r:id="rId4"/>
    <p:sldId id="278" r:id="rId5"/>
    <p:sldId id="279" r:id="rId6"/>
    <p:sldId id="280" r:id="rId7"/>
    <p:sldId id="281" r:id="rId8"/>
    <p:sldId id="282" r:id="rId9"/>
    <p:sldId id="285" r:id="rId10"/>
    <p:sldId id="273" r:id="rId11"/>
    <p:sldId id="286" r:id="rId12"/>
    <p:sldId id="271" r:id="rId13"/>
    <p:sldId id="258" r:id="rId14"/>
    <p:sldId id="257" r:id="rId15"/>
    <p:sldId id="283" r:id="rId16"/>
    <p:sldId id="284" r:id="rId17"/>
    <p:sldId id="275" r:id="rId18"/>
    <p:sldId id="259" r:id="rId19"/>
    <p:sldId id="260" r:id="rId20"/>
    <p:sldId id="261" r:id="rId21"/>
    <p:sldId id="262" r:id="rId22"/>
    <p:sldId id="263" r:id="rId23"/>
    <p:sldId id="264" r:id="rId24"/>
    <p:sldId id="265" r:id="rId25"/>
    <p:sldId id="266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02" y="8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135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0F3F7F-FDB7-4583-A7F7-F7145FB573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77F71E-4BAB-43F6-A306-BD4C35F7BF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BD7F60-8C0E-4633-B951-9D69DC6371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ECF0AB-CE32-4988-904F-D2BFFC8F62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169F87-B7B0-4192-907E-8A16653C2A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5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337870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30"/>
          </a:solidFill>
          <a:ln/>
        </p:spPr>
      </p:sp>
      <p:sp>
        <p:nvSpPr>
          <p:cNvPr id="3" name="Shape 1"/>
          <p:cNvSpPr/>
          <p:nvPr/>
        </p:nvSpPr>
        <p:spPr>
          <a:xfrm>
            <a:off x="5760720" y="137160"/>
            <a:ext cx="6583680" cy="6583680"/>
          </a:xfrm>
          <a:prstGeom prst="ellipse">
            <a:avLst/>
          </a:prstGeom>
          <a:ln w="12700">
            <a:solidFill>
              <a:srgbClr val="4FD1C5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868680"/>
            <a:ext cx="5120640" cy="512064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0" y="1600200"/>
            <a:ext cx="3657600" cy="3657600"/>
          </a:xfrm>
          <a:prstGeom prst="ellipse">
            <a:avLst/>
          </a:prstGeom>
          <a:ln w="12700">
            <a:solidFill>
              <a:srgbClr val="4FD1C5">
                <a:alpha val="3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2331720"/>
            <a:ext cx="2194560" cy="2194560"/>
          </a:xfrm>
          <a:prstGeom prst="ellipse">
            <a:avLst/>
          </a:prstGeom>
          <a:ln w="12700">
            <a:solidFill>
              <a:srgbClr val="6B84A3">
                <a:alpha val="3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 arquitectónico: Onion vs Hexagonal vs Clean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21  ·  Spring Boot  ·  H2/JPA ↔ MongoDB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 Architecture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generales para considerar una solución como arquitectura limpia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0F172A"/>
                </a:solidFill>
              </a:rPr>
              <a:t>En general, para que una solución pueda considerarse Clean Architecture, debería cumplir principalmente con estos criterios.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10561320" cy="758952"/>
          </a:xfrm>
          <a:prstGeom prst="roundRect">
            <a:avLst>
              <a:gd name="adj" fmla="val 7229"/>
            </a:avLst>
          </a:prstGeom>
          <a:solidFill>
            <a:srgbClr val="CCFBF1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142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0F766E"/>
                </a:solidFill>
              </a:rPr>
              <a:t>El objetivo es proteger las decisiones importantes del negocio frente a decisiones técnicas.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Clean Architecture · Criterios generales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1200" kern="1200">
                <a:solidFill>
                  <a:srgbClr val="64748B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principal e independencia del núcleo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capas internas no conocen a las externas.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868680" y="1627632"/>
            <a:ext cx="10607040" cy="4206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</a:rPr>
              <a:t>• Dependency Rule: todas las dependencias deben apuntar hacia las capas internas. Las capas internas no conocen a las externas.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</a:rPr>
              <a:t>• Dominio independiente: las entidades y reglas de negocio no dependen de frameworks, UI, base de datos, red ni infraestructura.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</a:rPr>
              <a:t>• Casos de uso independientes: la lógica de aplicación coordina el negocio sin depender directamente de tecnologías concretas.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Clean Architecture · Criterios generales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1200" kern="1200">
                <a:solidFill>
                  <a:srgbClr val="64748B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Límites, infraestructura y UI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tecnología se trata como un detalle externo y reemplazable.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868680" y="1444752"/>
            <a:ext cx="10652760" cy="4754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>
              <a:buNone/>
            </a:pPr>
            <a:r>
              <a:rPr lang="en-US" sz="1710" dirty="0">
                <a:solidFill>
                  <a:srgbClr val="0F172A"/>
                </a:solidFill>
              </a:rPr>
              <a:t>• Abstracciones en los límites: la comunicación con bases de datos, servicios externos, mensajería, archivos, etc. se realiza mediante interfaces o contratos.</a:t>
            </a:r>
            <a:endParaRPr lang="en-US" sz="1710" dirty="0"/>
          </a:p>
          <a:p>
            <a:pPr marL="0" indent="0">
              <a:buNone/>
            </a:pPr>
            <a:endParaRPr lang="en-US" sz="1710" dirty="0"/>
          </a:p>
          <a:p>
            <a:pPr marL="0" indent="0">
              <a:buNone/>
            </a:pPr>
            <a:r>
              <a:rPr lang="en-US" sz="1710" dirty="0">
                <a:solidFill>
                  <a:srgbClr val="0F172A"/>
                </a:solidFill>
              </a:rPr>
              <a:t>• Infraestructura reemplazable: debería poder cambiarse una base de datos, framework web o servicio externo con mínimo impacto en el núcleo.</a:t>
            </a:r>
            <a:endParaRPr lang="en-US" sz="1710" dirty="0"/>
          </a:p>
          <a:p>
            <a:pPr marL="0" indent="0">
              <a:buNone/>
            </a:pPr>
            <a:endParaRPr lang="en-US" sz="1710" dirty="0"/>
          </a:p>
          <a:p>
            <a:pPr marL="0" indent="0">
              <a:buNone/>
            </a:pPr>
            <a:r>
              <a:rPr lang="en-US" sz="1710" dirty="0">
                <a:solidFill>
                  <a:srgbClr val="0F172A"/>
                </a:solidFill>
              </a:rPr>
              <a:t>• UI desacoplada: REST, web, consola, móvil o cualquier otra entrada son detalles externos; no deben contener reglas importantes del negocio.</a:t>
            </a:r>
            <a:endParaRPr lang="en-US" sz="1710" dirty="0"/>
          </a:p>
          <a:p>
            <a:pPr marL="0" indent="0">
              <a:buNone/>
            </a:pPr>
            <a:endParaRPr lang="en-US" sz="1710" dirty="0"/>
          </a:p>
          <a:p>
            <a:pPr marL="0" indent="0">
              <a:buNone/>
            </a:pPr>
            <a:r>
              <a:rPr lang="en-US" sz="1710" dirty="0">
                <a:solidFill>
                  <a:srgbClr val="0F172A"/>
                </a:solidFill>
              </a:rPr>
              <a:t>• Frameworks como detalles: Spring, .NET, Angular, MongoDB, JPA, Kafka, AWS, etc. deben quedar en las capas externas.</a:t>
            </a:r>
            <a:endParaRPr lang="en-US" sz="171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Clean Architecture · Criterios generales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1200" kern="1200">
                <a:solidFill>
                  <a:srgbClr val="64748B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Separación, testabilidad y persistencia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modelo de negocio no se diseña en función de la tecnología.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10652760" cy="4251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>
              <a:buNone/>
            </a:pPr>
            <a:r>
              <a:rPr lang="en-US" sz="1870" dirty="0">
                <a:solidFill>
                  <a:srgbClr val="0F172A"/>
                </a:solidFill>
              </a:rPr>
              <a:t>• Separación de responsabilidades: cada capa tiene una función clara: negocio, casos de uso, adaptación y tecnología.</a:t>
            </a:r>
            <a:endParaRPr lang="en-US" sz="1870" dirty="0"/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r>
              <a:rPr lang="en-US" sz="1870" dirty="0">
                <a:solidFill>
                  <a:srgbClr val="0F172A"/>
                </a:solidFill>
              </a:rPr>
              <a:t>• Testabilidad: dominio y casos de uso deben poder probarse sin levantar bases de datos, servidores o frameworks completos.</a:t>
            </a:r>
            <a:endParaRPr lang="en-US" sz="1870" dirty="0"/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r>
              <a:rPr lang="en-US" sz="1870" dirty="0">
                <a:solidFill>
                  <a:srgbClr val="0F172A"/>
                </a:solidFill>
              </a:rPr>
              <a:t>• Independencia del mecanismo de persistencia: el modelo de negocio no debería diseñarse en función de tablas, documentos o anotaciones de persistencia.</a:t>
            </a:r>
            <a:endParaRPr lang="en-US" sz="187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Clean Architecture · Criterios generales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1200" kern="1200">
                <a:solidFill>
                  <a:srgbClr val="64748B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Agentes externos, ensamblaje y reglas verificables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integraciones se ubican fuera del núcleo.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868680" y="1600200"/>
            <a:ext cx="10652760" cy="4251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>
              <a:buNone/>
            </a:pPr>
            <a:r>
              <a:rPr lang="en-US" sz="1870" dirty="0">
                <a:solidFill>
                  <a:srgbClr val="0F172A"/>
                </a:solidFill>
              </a:rPr>
              <a:t>• Independencia de agentes externos: APIs, colas, correo, almacenamiento y otros sistemas externos se consideran detalles reemplazables.</a:t>
            </a:r>
            <a:endParaRPr lang="en-US" sz="1870" dirty="0"/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r>
              <a:rPr lang="en-US" sz="1870" dirty="0">
                <a:solidFill>
                  <a:srgbClr val="0F172A"/>
                </a:solidFill>
              </a:rPr>
              <a:t>• Composition Root externo: algún componente externo debe encargarse de ensamblar las implementaciones concretas con las abstracciones.</a:t>
            </a:r>
            <a:endParaRPr lang="en-US" sz="1870" dirty="0"/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r>
              <a:rPr lang="en-US" sz="1870" dirty="0">
                <a:solidFill>
                  <a:srgbClr val="0F172A"/>
                </a:solidFill>
              </a:rPr>
              <a:t>• Reglas arquitectónicas verificables: idealmente se deben tener tests o controles que impidan dependencias incorrectas entre capas.</a:t>
            </a:r>
            <a:endParaRPr lang="en-US" sz="187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Clean Architecture · Criterios generales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1200" kern="1200">
                <a:solidFill>
                  <a:srgbClr val="64748B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final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Architecture no depende solo del nombre de las carpetas.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</a:rPr>
              <a:t>Clean Architecture busca que las decisiones importantes del negocio estén protegidas de las decisiones técnicas.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0652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328416"/>
            <a:ext cx="1001268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20" dirty="0">
                <a:solidFill>
                  <a:srgbClr val="0F172A"/>
                </a:solidFill>
              </a:rPr>
              <a:t>Por eso, una arquitectura no es Clean simplemente porque tenga carpetas llamadas domain, application o adapter; debe cumplir realmente la dirección de dependencias y el desacoplamiento del núcleo.</a:t>
            </a:r>
            <a:endParaRPr lang="en-US" sz="1920" dirty="0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4748B"/>
                </a:solidFill>
              </a:rPr>
              <a:t>Clean Architecture · Criterios generales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1200" kern="1200">
                <a:solidFill>
                  <a:srgbClr val="64748B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0" y="164520"/>
            <a:ext cx="12191400" cy="4536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02920" y="41148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Objetivo de la migración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30280" y="86868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Cambiar la organización arquitectónica sin reescribir el scoring ni acoplar el núcleo a la infraestructura.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685800" y="1417320"/>
            <a:ext cx="3382920" cy="1828440"/>
          </a:xfrm>
          <a:prstGeom prst="roundRect">
            <a:avLst>
              <a:gd name="adj" fmla="val 4000"/>
            </a:avLst>
          </a:prstGeom>
          <a:solidFill>
            <a:srgbClr val="E8F1FF"/>
          </a:solidFill>
          <a:ln w="1524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685800" y="1417320"/>
            <a:ext cx="72720" cy="182844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914400" y="1563480"/>
            <a:ext cx="3035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Antes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914400" y="1920240"/>
            <a:ext cx="303552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Arquitectura Hexagonal con puertos y adaptadores: REST entra por UseCase y H2/MongoDB implementan repositorios.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8"/>
          <p:cNvSpPr/>
          <p:nvPr/>
        </p:nvSpPr>
        <p:spPr>
          <a:xfrm>
            <a:off x="4434840" y="1417320"/>
            <a:ext cx="3382920" cy="182844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524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434840" y="1417320"/>
            <a:ext cx="72720" cy="1828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0"/>
          <p:cNvSpPr/>
          <p:nvPr/>
        </p:nvSpPr>
        <p:spPr>
          <a:xfrm>
            <a:off x="4663440" y="1563480"/>
            <a:ext cx="3035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Ahora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663440" y="1920240"/>
            <a:ext cx="303552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Clean Architecture: se explicita Domain, Application, Interface Adapters, Frameworks y Bootstrap.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8183880" y="1417320"/>
            <a:ext cx="3108600" cy="182844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524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3"/>
          <p:cNvSpPr/>
          <p:nvPr/>
        </p:nvSpPr>
        <p:spPr>
          <a:xfrm>
            <a:off x="8183880" y="1417320"/>
            <a:ext cx="72720" cy="1828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8412480" y="1563480"/>
            <a:ext cx="2761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Restricción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5"/>
          <p:cNvSpPr/>
          <p:nvPr/>
        </p:nvSpPr>
        <p:spPr>
          <a:xfrm>
            <a:off x="8412480" y="1920240"/>
            <a:ext cx="276120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No modificar la lógica del scoring: entidades, value objects, servicios de dominio, comandos, DTOs y casos de uso.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914400" y="3977640"/>
            <a:ext cx="102409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La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migración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debe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demostrar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independencia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del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núcleo</a:t>
            </a:r>
            <a:b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</a:b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Cambiar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MongoDB ↔ H2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afecta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solo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adaptadores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y </a:t>
            </a:r>
            <a:r>
              <a:rPr lang="en-US" sz="20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configuración</a:t>
            </a:r>
            <a:r>
              <a:rPr lang="en-US" sz="20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.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7"/>
          <p:cNvSpPr/>
          <p:nvPr/>
        </p:nvSpPr>
        <p:spPr>
          <a:xfrm>
            <a:off x="11338560" y="6446520"/>
            <a:ext cx="502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"/>
          <p:cNvSpPr/>
          <p:nvPr/>
        </p:nvSpPr>
        <p:spPr>
          <a:xfrm>
            <a:off x="0" y="164520"/>
            <a:ext cx="12191400" cy="4536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"/>
          <p:cNvSpPr/>
          <p:nvPr/>
        </p:nvSpPr>
        <p:spPr>
          <a:xfrm>
            <a:off x="502920" y="41148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Punto por punto: en qué cumple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530280" y="86868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La sustentación debe conectar cada criterio con una decisión concreta del proyecto.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685800" y="1170360"/>
            <a:ext cx="338292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24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5"/>
          <p:cNvSpPr/>
          <p:nvPr/>
        </p:nvSpPr>
        <p:spPr>
          <a:xfrm>
            <a:off x="685800" y="1170360"/>
            <a:ext cx="72720" cy="1416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6"/>
          <p:cNvSpPr/>
          <p:nvPr/>
        </p:nvSpPr>
        <p:spPr>
          <a:xfrm>
            <a:off x="914400" y="1316880"/>
            <a:ext cx="3035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Núcleo protegido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914400" y="1673280"/>
            <a:ext cx="30355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Domain contiene entidades, VOs y reglas. Application contiene servicios de caso de uso. No hay dependencias a Spring, JPA o MongoDB.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4434840" y="1170360"/>
            <a:ext cx="338292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24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9"/>
          <p:cNvSpPr/>
          <p:nvPr/>
        </p:nvSpPr>
        <p:spPr>
          <a:xfrm>
            <a:off x="4434840" y="1170360"/>
            <a:ext cx="72720" cy="141696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0"/>
          <p:cNvSpPr/>
          <p:nvPr/>
        </p:nvSpPr>
        <p:spPr>
          <a:xfrm>
            <a:off x="4663440" y="1316880"/>
            <a:ext cx="3035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Entrada controlada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1"/>
          <p:cNvSpPr/>
          <p:nvPr/>
        </p:nvSpPr>
        <p:spPr>
          <a:xfrm>
            <a:off x="4663440" y="1673280"/>
            <a:ext cx="30355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El Controller REST entra por CrearSolicitudCreditoUseCase y EjecutarEvaluacionScoringUseCase.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2"/>
          <p:cNvSpPr/>
          <p:nvPr/>
        </p:nvSpPr>
        <p:spPr>
          <a:xfrm>
            <a:off x="8183880" y="1170360"/>
            <a:ext cx="310860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24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3"/>
          <p:cNvSpPr/>
          <p:nvPr/>
        </p:nvSpPr>
        <p:spPr>
          <a:xfrm>
            <a:off x="8183880" y="1170360"/>
            <a:ext cx="72720" cy="14169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4"/>
          <p:cNvSpPr/>
          <p:nvPr/>
        </p:nvSpPr>
        <p:spPr>
          <a:xfrm>
            <a:off x="8412480" y="1316880"/>
            <a:ext cx="2761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Salida desacoplada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5"/>
          <p:cNvSpPr/>
          <p:nvPr/>
        </p:nvSpPr>
        <p:spPr>
          <a:xfrm>
            <a:off x="8412480" y="1673280"/>
            <a:ext cx="27612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JPA y MongoDB implementan los mismos puertos de salida de la aplicación.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6"/>
          <p:cNvSpPr/>
          <p:nvPr/>
        </p:nvSpPr>
        <p:spPr>
          <a:xfrm>
            <a:off x="685800" y="3154680"/>
            <a:ext cx="338292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24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7"/>
          <p:cNvSpPr/>
          <p:nvPr/>
        </p:nvSpPr>
        <p:spPr>
          <a:xfrm>
            <a:off x="685800" y="3154680"/>
            <a:ext cx="72720" cy="1416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8"/>
          <p:cNvSpPr/>
          <p:nvPr/>
        </p:nvSpPr>
        <p:spPr>
          <a:xfrm>
            <a:off x="914400" y="3300840"/>
            <a:ext cx="3035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Frameworks afuera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9"/>
          <p:cNvSpPr/>
          <p:nvPr/>
        </p:nvSpPr>
        <p:spPr>
          <a:xfrm>
            <a:off x="914400" y="3657600"/>
            <a:ext cx="30355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Spring, transacciones, configuración JPA y MongoDB viven en frameworks/bootstrap, no en domain/application.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0"/>
          <p:cNvSpPr/>
          <p:nvPr/>
        </p:nvSpPr>
        <p:spPr>
          <a:xfrm>
            <a:off x="4434840" y="3154680"/>
            <a:ext cx="338292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240">
            <a:solidFill>
              <a:srgbClr val="14B8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1"/>
          <p:cNvSpPr/>
          <p:nvPr/>
        </p:nvSpPr>
        <p:spPr>
          <a:xfrm>
            <a:off x="4434840" y="3154680"/>
            <a:ext cx="72720" cy="14169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2"/>
          <p:cNvSpPr/>
          <p:nvPr/>
        </p:nvSpPr>
        <p:spPr>
          <a:xfrm>
            <a:off x="4663440" y="3300840"/>
            <a:ext cx="3035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Intercambio rápido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3"/>
          <p:cNvSpPr/>
          <p:nvPr/>
        </p:nvSpPr>
        <p:spPr>
          <a:xfrm>
            <a:off x="4663440" y="3657600"/>
            <a:ext cx="30355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El perfil h2 o mongodb cambia el adaptador activo sin tocar el código del negocio.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4"/>
          <p:cNvSpPr/>
          <p:nvPr/>
        </p:nvSpPr>
        <p:spPr>
          <a:xfrm>
            <a:off x="8183880" y="3154680"/>
            <a:ext cx="3108600" cy="141696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24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5"/>
          <p:cNvSpPr/>
          <p:nvPr/>
        </p:nvSpPr>
        <p:spPr>
          <a:xfrm>
            <a:off x="8183880" y="3154680"/>
            <a:ext cx="72720" cy="1416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6"/>
          <p:cNvSpPr/>
          <p:nvPr/>
        </p:nvSpPr>
        <p:spPr>
          <a:xfrm>
            <a:off x="8412480" y="3300840"/>
            <a:ext cx="2761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Pruebas como evidencia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7"/>
          <p:cNvSpPr/>
          <p:nvPr/>
        </p:nvSpPr>
        <p:spPr>
          <a:xfrm>
            <a:off x="8412480" y="3657600"/>
            <a:ext cx="27612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ArchUnit valida dependencias; integración y E2E validan que H2 y MongoDB dan el mismo resultado.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8"/>
          <p:cNvSpPr/>
          <p:nvPr/>
        </p:nvSpPr>
        <p:spPr>
          <a:xfrm>
            <a:off x="11338560" y="6446520"/>
            <a:ext cx="502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definitivos para decir que es Clean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8890">
            <a:solidFill>
              <a:srgbClr val="B7C1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7160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AF4FF"/>
          </a:solidFill>
          <a:ln w="12700">
            <a:solidFill>
              <a:srgbClr val="EAF4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784" y="146304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56232" y="1353312"/>
            <a:ext cx="41148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domain no depende de application, adapters, Spring, MongoDB ni JPA.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AF4FF"/>
          </a:solidFill>
          <a:ln w="12700">
            <a:solidFill>
              <a:srgbClr val="EAF4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" y="228600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56232" y="2176272"/>
            <a:ext cx="41148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application solamente puede depender del domain.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01752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AF4FF"/>
          </a:solidFill>
          <a:ln w="12700">
            <a:solidFill>
              <a:srgbClr val="EAF4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" y="310896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56232" y="2999232"/>
            <a:ext cx="41148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application.port.in define las operaciones disponibles.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4048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AF4FF"/>
          </a:solidFill>
          <a:ln w="12700">
            <a:solidFill>
              <a:srgbClr val="EAF4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" y="393192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856232" y="3822192"/>
            <a:ext cx="41148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application.port.out define dependencias externas de los casos de uso.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66344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AF4FF"/>
          </a:solidFill>
          <a:ln w="12700">
            <a:solidFill>
              <a:srgbClr val="EAF4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" y="475488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56232" y="4645152"/>
            <a:ext cx="41148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Controllers dependen de port.in, nunca de persistencia.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137160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9F7EF"/>
          </a:solidFill>
          <a:ln w="12700">
            <a:solidFill>
              <a:srgbClr val="E9F7E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5664" y="146304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54112" y="1353312"/>
            <a:ext cx="4160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C2B39"/>
                </a:solidFill>
              </a:rPr>
              <a:t>JPA y MongoDB implementan port.out.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219456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9F7EF"/>
          </a:solidFill>
          <a:ln w="12700">
            <a:solidFill>
              <a:srgbClr val="E9F7E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55664" y="228600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54112" y="2176272"/>
            <a:ext cx="4160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C2B39"/>
                </a:solidFill>
              </a:rPr>
              <a:t>Adapters dependen de application y domain; nunca al revés.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0" y="301752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9F7EF"/>
          </a:solidFill>
          <a:ln w="12700">
            <a:solidFill>
              <a:srgbClr val="E9F7E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55664" y="310896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C8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54112" y="2999232"/>
            <a:ext cx="4160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C2B39"/>
                </a:solidFill>
              </a:rPr>
              <a:t>Frameworks permanecen en las capas externas.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384048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9F7EF"/>
          </a:solidFill>
          <a:ln w="12700">
            <a:solidFill>
              <a:srgbClr val="E9F7E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55664" y="393192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C9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54112" y="3822192"/>
            <a:ext cx="4160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C2B39"/>
                </a:solidFill>
              </a:rPr>
              <a:t>bootstrap/Composition Root ensambla todas las capas.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466344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9F7EF"/>
          </a:solidFill>
          <a:ln w="12700">
            <a:solidFill>
              <a:srgbClr val="E9F7E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55664" y="475488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C10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54112" y="4645152"/>
            <a:ext cx="41605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1C2B39"/>
                </a:solidFill>
              </a:rPr>
              <a:t>Cambiar H2 por MongoDB no cambia domain ni application.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750040" y="660196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78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0" y="164520"/>
            <a:ext cx="12191400" cy="4536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"/>
          <p:cNvSpPr/>
          <p:nvPr/>
        </p:nvSpPr>
        <p:spPr>
          <a:xfrm>
            <a:off x="502920" y="41148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Tema de pruebas: evidencia funcional y arquitectónica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530280" y="86868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Las pruebas no solo verifican resultados: también protegen la regla de dependencias.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4"/>
          <p:cNvSpPr/>
          <p:nvPr/>
        </p:nvSpPr>
        <p:spPr>
          <a:xfrm>
            <a:off x="685800" y="1261800"/>
            <a:ext cx="512028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5"/>
          <p:cNvSpPr/>
          <p:nvPr/>
        </p:nvSpPr>
        <p:spPr>
          <a:xfrm>
            <a:off x="685800" y="1261800"/>
            <a:ext cx="72720" cy="7768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6"/>
          <p:cNvSpPr/>
          <p:nvPr/>
        </p:nvSpPr>
        <p:spPr>
          <a:xfrm>
            <a:off x="914400" y="1408320"/>
            <a:ext cx="4772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Domain unitario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7"/>
          <p:cNvSpPr/>
          <p:nvPr/>
        </p:nvSpPr>
        <p:spPr>
          <a:xfrm>
            <a:off x="914400" y="1764720"/>
            <a:ext cx="4772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Entidades, Value Objects, reglas puras. No Spring ni base de datos.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8"/>
          <p:cNvSpPr/>
          <p:nvPr/>
        </p:nvSpPr>
        <p:spPr>
          <a:xfrm>
            <a:off x="685800" y="2286000"/>
            <a:ext cx="512028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9"/>
          <p:cNvSpPr/>
          <p:nvPr/>
        </p:nvSpPr>
        <p:spPr>
          <a:xfrm>
            <a:off x="685800" y="2286000"/>
            <a:ext cx="72720" cy="7768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0"/>
          <p:cNvSpPr/>
          <p:nvPr/>
        </p:nvSpPr>
        <p:spPr>
          <a:xfrm>
            <a:off x="914400" y="2432160"/>
            <a:ext cx="4772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Application unitario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1"/>
          <p:cNvSpPr/>
          <p:nvPr/>
        </p:nvSpPr>
        <p:spPr>
          <a:xfrm>
            <a:off x="914400" y="2788920"/>
            <a:ext cx="4772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Servicios de caso de uso con Mockito y puertos simulados.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2"/>
          <p:cNvSpPr/>
          <p:nvPr/>
        </p:nvSpPr>
        <p:spPr>
          <a:xfrm>
            <a:off x="685800" y="3310200"/>
            <a:ext cx="512028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3"/>
          <p:cNvSpPr/>
          <p:nvPr/>
        </p:nvSpPr>
        <p:spPr>
          <a:xfrm>
            <a:off x="685800" y="3310200"/>
            <a:ext cx="72720" cy="77688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4"/>
          <p:cNvSpPr/>
          <p:nvPr/>
        </p:nvSpPr>
        <p:spPr>
          <a:xfrm>
            <a:off x="914400" y="3456360"/>
            <a:ext cx="4772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Mapper unitario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5"/>
          <p:cNvSpPr/>
          <p:nvPr/>
        </p:nvSpPr>
        <p:spPr>
          <a:xfrm>
            <a:off x="914400" y="3813120"/>
            <a:ext cx="4772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Dominio ↔ Document/JPA sin perder datos.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6"/>
          <p:cNvSpPr/>
          <p:nvPr/>
        </p:nvSpPr>
        <p:spPr>
          <a:xfrm>
            <a:off x="685800" y="4334400"/>
            <a:ext cx="512028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14B8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7"/>
          <p:cNvSpPr/>
          <p:nvPr/>
        </p:nvSpPr>
        <p:spPr>
          <a:xfrm>
            <a:off x="685800" y="4334400"/>
            <a:ext cx="72720" cy="77688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8"/>
          <p:cNvSpPr/>
          <p:nvPr/>
        </p:nvSpPr>
        <p:spPr>
          <a:xfrm>
            <a:off x="914400" y="4480560"/>
            <a:ext cx="4772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Infra Mongo unitario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9"/>
          <p:cNvSpPr/>
          <p:nvPr/>
        </p:nvSpPr>
        <p:spPr>
          <a:xfrm>
            <a:off x="914400" y="4837320"/>
            <a:ext cx="4772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Secuencias e inicializador con mocks.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0"/>
          <p:cNvSpPr/>
          <p:nvPr/>
        </p:nvSpPr>
        <p:spPr>
          <a:xfrm>
            <a:off x="6263640" y="1261800"/>
            <a:ext cx="512028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1"/>
          <p:cNvSpPr/>
          <p:nvPr/>
        </p:nvSpPr>
        <p:spPr>
          <a:xfrm>
            <a:off x="6263640" y="1261800"/>
            <a:ext cx="72720" cy="776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2"/>
          <p:cNvSpPr/>
          <p:nvPr/>
        </p:nvSpPr>
        <p:spPr>
          <a:xfrm>
            <a:off x="6492240" y="1408320"/>
            <a:ext cx="4772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Integración H2/Mongo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3"/>
          <p:cNvSpPr/>
          <p:nvPr/>
        </p:nvSpPr>
        <p:spPr>
          <a:xfrm>
            <a:off x="6492240" y="1764720"/>
            <a:ext cx="4772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UseCase → núcleo → adaptador → base real de prueba.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4"/>
          <p:cNvSpPr/>
          <p:nvPr/>
        </p:nvSpPr>
        <p:spPr>
          <a:xfrm>
            <a:off x="6263640" y="2286000"/>
            <a:ext cx="512028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5"/>
          <p:cNvSpPr/>
          <p:nvPr/>
        </p:nvSpPr>
        <p:spPr>
          <a:xfrm>
            <a:off x="6263640" y="2286000"/>
            <a:ext cx="72720" cy="7768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6"/>
          <p:cNvSpPr/>
          <p:nvPr/>
        </p:nvSpPr>
        <p:spPr>
          <a:xfrm>
            <a:off x="6492240" y="2432160"/>
            <a:ext cx="4772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E2E H2/Mongo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7"/>
          <p:cNvSpPr/>
          <p:nvPr/>
        </p:nvSpPr>
        <p:spPr>
          <a:xfrm>
            <a:off x="6492240" y="2788920"/>
            <a:ext cx="4772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HTTP → Controller → UseCase → dominio → base.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8"/>
          <p:cNvSpPr/>
          <p:nvPr/>
        </p:nvSpPr>
        <p:spPr>
          <a:xfrm>
            <a:off x="6263640" y="3310200"/>
            <a:ext cx="512028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0B1F3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9"/>
          <p:cNvSpPr/>
          <p:nvPr/>
        </p:nvSpPr>
        <p:spPr>
          <a:xfrm>
            <a:off x="6263640" y="3310200"/>
            <a:ext cx="72720" cy="7768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0"/>
          <p:cNvSpPr/>
          <p:nvPr/>
        </p:nvSpPr>
        <p:spPr>
          <a:xfrm>
            <a:off x="6492240" y="3456360"/>
            <a:ext cx="4772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ArchUnit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1"/>
          <p:cNvSpPr/>
          <p:nvPr/>
        </p:nvSpPr>
        <p:spPr>
          <a:xfrm>
            <a:off x="6492240" y="3813120"/>
            <a:ext cx="4772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Valida que Domain/Application no dependan de capas externas.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2"/>
          <p:cNvSpPr/>
          <p:nvPr/>
        </p:nvSpPr>
        <p:spPr>
          <a:xfrm>
            <a:off x="11338560" y="6446520"/>
            <a:ext cx="502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de arquitectura: qué </a:t>
            </a:r>
            <a:r>
              <a:rPr lang="en-US" sz="2400" b="1" dirty="0" err="1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deben</a:t>
            </a: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proteger</a:t>
            </a: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2400" dirty="0" err="1">
                <a:solidFill>
                  <a:srgbClr val="1C2B39"/>
                </a:solidFill>
              </a:rPr>
              <a:t>ArchUnit</a:t>
            </a: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8890">
            <a:solidFill>
              <a:srgbClr val="B7C1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37160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9F7EF"/>
          </a:solidFill>
          <a:ln w="12700">
            <a:solidFill>
              <a:srgbClr val="E9F7E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46304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Domain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48840" y="1380744"/>
            <a:ext cx="88696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no depende de Spring, JPA, MongoDB, application ni adapters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10312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9F7EF"/>
          </a:solidFill>
          <a:ln w="12700">
            <a:solidFill>
              <a:srgbClr val="E9F7E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" y="219456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Application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48840" y="2112264"/>
            <a:ext cx="88696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depende de domain; no depende de adapters, frameworks ni REST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283464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AF4FF"/>
          </a:solidFill>
          <a:ln w="12700">
            <a:solidFill>
              <a:srgbClr val="EAF4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292608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REST Adapter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48840" y="2843784"/>
            <a:ext cx="88696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depende de application.port.in; no de port.out ni persistencia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56616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6F8FB"/>
          </a:solidFill>
          <a:ln w="12700">
            <a:solidFill>
              <a:srgbClr val="E6F8F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" y="365760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JPA Adapter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3575304"/>
            <a:ext cx="88696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implementa application.port.out y conoce domain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429768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6F8FB"/>
          </a:solidFill>
          <a:ln w="12700">
            <a:solidFill>
              <a:srgbClr val="E6F8F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" y="438912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Mongo Adapter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48840" y="4306824"/>
            <a:ext cx="88696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implementa application.port.out y conoce domain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29200"/>
            <a:ext cx="1234440" cy="320040"/>
          </a:xfrm>
          <a:prstGeom prst="roundRect">
            <a:avLst>
              <a:gd name="adj" fmla="val 14286"/>
            </a:avLst>
          </a:prstGeom>
          <a:solidFill>
            <a:srgbClr val="E6F8FB"/>
          </a:solidFill>
          <a:ln w="12700">
            <a:solidFill>
              <a:srgbClr val="E6F8FB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" y="5120640"/>
            <a:ext cx="11247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Bootstrap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148840" y="5038344"/>
            <a:ext cx="88696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9"/>
                </a:solidFill>
              </a:rPr>
              <a:t>puede conocer todos para ensamblar la aplicación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011680" y="5577840"/>
            <a:ext cx="8138160" cy="685800"/>
          </a:xfrm>
          <a:prstGeom prst="roundRect">
            <a:avLst>
              <a:gd name="adj" fmla="val 9333"/>
            </a:avLst>
          </a:prstGeom>
          <a:solidFill>
            <a:srgbClr val="FFF3E2"/>
          </a:solidFill>
          <a:ln w="13970">
            <a:solidFill>
              <a:srgbClr val="F2A2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52497" y="5856732"/>
            <a:ext cx="7808976" cy="64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C2B39"/>
                </a:solidFill>
              </a:rPr>
              <a:t>ArchUnit hace fallar el build si una capa interna importa clases externas prohibidas.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750040" y="660196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78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capas de Clean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1828800"/>
            <a:ext cx="4297680" cy="4297680"/>
          </a:xfrm>
          <a:prstGeom prst="ellipse">
            <a:avLst/>
          </a:prstGeom>
          <a:solidFill>
            <a:srgbClr val="132A4C"/>
          </a:solidFill>
          <a:ln w="25400">
            <a:solidFill>
              <a:srgbClr val="0A19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377440"/>
            <a:ext cx="3200400" cy="3200400"/>
          </a:xfrm>
          <a:prstGeom prst="ellipse">
            <a:avLst/>
          </a:prstGeom>
          <a:solidFill>
            <a:srgbClr val="1C3A63"/>
          </a:solidFill>
          <a:ln w="25400">
            <a:solidFill>
              <a:srgbClr val="0A19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2971800"/>
            <a:ext cx="2011680" cy="2011680"/>
          </a:xfrm>
          <a:prstGeom prst="ellipse">
            <a:avLst/>
          </a:prstGeom>
          <a:solidFill>
            <a:srgbClr val="2A4D7A"/>
          </a:solidFill>
          <a:ln w="25400">
            <a:solidFill>
              <a:srgbClr val="0A19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14600" y="3474720"/>
            <a:ext cx="1005840" cy="1005840"/>
          </a:xfrm>
          <a:prstGeom prst="ellipse">
            <a:avLst/>
          </a:prstGeom>
          <a:solidFill>
            <a:srgbClr val="4FD1C5"/>
          </a:solidFill>
          <a:ln w="25400">
            <a:solidFill>
              <a:srgbClr val="0A19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32120" y="2029968"/>
            <a:ext cx="91440" cy="91440"/>
          </a:xfrm>
          <a:prstGeom prst="ellipse">
            <a:avLst/>
          </a:prstGeom>
          <a:solidFill>
            <a:srgbClr val="9FB3C8"/>
          </a:solidFill>
          <a:ln/>
        </p:spPr>
      </p:sp>
      <p:sp>
        <p:nvSpPr>
          <p:cNvPr id="10" name="Text 8"/>
          <p:cNvSpPr/>
          <p:nvPr/>
        </p:nvSpPr>
        <p:spPr>
          <a:xfrm>
            <a:off x="5742432" y="18928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42432" y="218541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motor-scoring-frameworks — Spring, JPA, MongoDB driver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32120" y="289864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742432" y="2761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42432" y="30540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adapter-in-rest, adapter-out-jpa, adapter-out-mongodb — 3 módulos independientes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32120" y="376732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742432" y="36301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742432" y="3922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port/in, port/out, UseCases, Services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4636008"/>
            <a:ext cx="91440" cy="91440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19" name="Text 17"/>
          <p:cNvSpPr/>
          <p:nvPr/>
        </p:nvSpPr>
        <p:spPr>
          <a:xfrm>
            <a:off x="5742432" y="44988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742432" y="47914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Value Objects, Domain Services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32A4C"/>
          </a:solidFill>
          <a:ln/>
        </p:spPr>
      </p:sp>
      <p:sp>
        <p:nvSpPr>
          <p:cNvPr id="22" name="Text 20"/>
          <p:cNvSpPr/>
          <p:nvPr/>
        </p:nvSpPr>
        <p:spPr>
          <a:xfrm>
            <a:off x="80924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DE DEPENDENCIA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924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dependencias del código fuente solo pueden apuntar hacia adentro. Nada en una capa interna conoce nada de una capa externa.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00984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5" name="Text 23"/>
          <p:cNvSpPr/>
          <p:nvPr/>
        </p:nvSpPr>
        <p:spPr>
          <a:xfrm>
            <a:off x="827532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no importa Spring ni JPA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92440" y="3922776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7" name="Text 25"/>
          <p:cNvSpPr/>
          <p:nvPr/>
        </p:nvSpPr>
        <p:spPr>
          <a:xfrm>
            <a:off x="8275320" y="3794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depende solo de Domain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92440" y="4544568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9" name="Text 27"/>
          <p:cNvSpPr/>
          <p:nvPr/>
        </p:nvSpPr>
        <p:spPr>
          <a:xfrm>
            <a:off x="8275320" y="44165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 implementa los puertos de Application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92440" y="5166360"/>
            <a:ext cx="73152" cy="73152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1" name="Text 29"/>
          <p:cNvSpPr/>
          <p:nvPr/>
        </p:nvSpPr>
        <p:spPr>
          <a:xfrm>
            <a:off x="8275320" y="50383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 configura todo desde afuera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partimos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6479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base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 implementado en Onion y en Hexagonal, este último con adaptadores de persistencia intercambiables H2/JPA y MongoDB, seleccionados vía spring.profiles.active.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2783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esta actividad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Proponer una reestructuración del mismo motor bajo Clean Architecture, sin modificar la lógica de negocio ni las reglas de scoring.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526280"/>
            <a:ext cx="6949440" cy="1234440"/>
          </a:xfrm>
          <a:prstGeom prst="roundRect">
            <a:avLst>
              <a:gd name="adj" fmla="val 5926"/>
            </a:avLst>
          </a:prstGeom>
          <a:solidFill>
            <a:srgbClr val="132A4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50292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partió del árbol de módulos real de Onion y Hexagonal, y se derivó un esquema Clean con puertos de entrada/salida explícitos.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818120" y="1600200"/>
            <a:ext cx="3794760" cy="4251960"/>
          </a:xfrm>
          <a:prstGeom prst="roundRect">
            <a:avLst>
              <a:gd name="adj" fmla="val 2410"/>
            </a:avLst>
          </a:prstGeom>
          <a:solidFill>
            <a:srgbClr val="1C3A63"/>
          </a:solidFill>
          <a:ln w="12700">
            <a:solidFill>
              <a:srgbClr val="4FD1C5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REFERENCIA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2440" y="21945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989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092440" y="3063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de score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352044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8092440" y="35204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PREAPROBADA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92440" y="4114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Factores evaluados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92440" y="4343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92440" y="4709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scoring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92440" y="4937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v1.1.0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92440" y="5303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92440" y="5532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/ MongoDB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"/>
          <p:cNvSpPr/>
          <p:nvPr/>
        </p:nvSpPr>
        <p:spPr>
          <a:xfrm>
            <a:off x="0" y="164520"/>
            <a:ext cx="12191400" cy="4536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502920" y="41148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Estructura</a:t>
            </a:r>
            <a:r>
              <a:rPr lang="en-US" sz="28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Clean Architecture </a:t>
            </a:r>
            <a:r>
              <a:rPr lang="en-US" sz="28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por</a:t>
            </a:r>
            <a:r>
              <a:rPr lang="en-US" sz="28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 </a:t>
            </a:r>
            <a:r>
              <a:rPr lang="en-US" sz="2800" b="1" u="none" strike="noStrike" dirty="0" err="1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capas</a:t>
            </a:r>
            <a:r>
              <a:rPr lang="en-US" sz="2800" b="1" u="none" strike="noStrike" dirty="0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(Dependency Rule)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530280" y="86868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Cada capa tiene una responsabilidad y una dirección de dependencia permitida.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3794760" y="1234440"/>
            <a:ext cx="4571640" cy="868320"/>
          </a:xfrm>
          <a:prstGeom prst="roundRect">
            <a:avLst>
              <a:gd name="adj" fmla="val 8421"/>
            </a:avLst>
          </a:prstGeom>
          <a:solidFill>
            <a:srgbClr val="F3E8FF"/>
          </a:solidFill>
          <a:ln w="1524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3840480" y="1344240"/>
            <a:ext cx="448020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Domain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Entidades · Value Objects · Servicios de dominio · Reglas de scoring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6"/>
          <p:cNvSpPr/>
          <p:nvPr/>
        </p:nvSpPr>
        <p:spPr>
          <a:xfrm>
            <a:off x="3200400" y="2423160"/>
            <a:ext cx="5760360" cy="86832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5240">
            <a:solidFill>
              <a:srgbClr val="22C55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3246120" y="2532960"/>
            <a:ext cx="566892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Application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port/in · port/out · Services · Commands · DTOs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8"/>
          <p:cNvSpPr/>
          <p:nvPr/>
        </p:nvSpPr>
        <p:spPr>
          <a:xfrm>
            <a:off x="2514600" y="3611880"/>
            <a:ext cx="7131960" cy="868320"/>
          </a:xfrm>
          <a:prstGeom prst="roundRect">
            <a:avLst>
              <a:gd name="adj" fmla="val 8421"/>
            </a:avLst>
          </a:prstGeom>
          <a:solidFill>
            <a:srgbClr val="E8F1FF"/>
          </a:solidFill>
          <a:ln w="1524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2560320" y="3721680"/>
            <a:ext cx="704052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Interface Adapters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REST · JPA Adapter · MongoDB Adapter · Mappers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0"/>
          <p:cNvSpPr/>
          <p:nvPr/>
        </p:nvSpPr>
        <p:spPr>
          <a:xfrm>
            <a:off x="1828800" y="4800600"/>
            <a:ext cx="8503560" cy="868320"/>
          </a:xfrm>
          <a:prstGeom prst="roundRect">
            <a:avLst>
              <a:gd name="adj" fmla="val 8421"/>
            </a:avLst>
          </a:prstGeom>
          <a:solidFill>
            <a:srgbClr val="FFF7ED"/>
          </a:solidFill>
          <a:ln w="1524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1874520" y="4910400"/>
            <a:ext cx="841212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Frameworks &amp; Drivers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Spring · JPA · MongoDB · Transaction · Docker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2"/>
          <p:cNvSpPr/>
          <p:nvPr/>
        </p:nvSpPr>
        <p:spPr>
          <a:xfrm flipV="1">
            <a:off x="10771742" y="2011320"/>
            <a:ext cx="360" cy="303588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2788920" y="5989320"/>
            <a:ext cx="6491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Dependency Rule: las dependencias apuntan hacia el núcleo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11338560" y="6446520"/>
            <a:ext cx="502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0" y="0"/>
            <a:ext cx="12191400" cy="164160"/>
          </a:xfrm>
          <a:prstGeom prst="rect">
            <a:avLst/>
          </a:prstGeom>
          <a:solidFill>
            <a:srgbClr val="165DFF"/>
          </a:solidFill>
          <a:ln w="12700">
            <a:solidFill>
              <a:srgbClr val="165D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"/>
          <p:cNvSpPr/>
          <p:nvPr/>
        </p:nvSpPr>
        <p:spPr>
          <a:xfrm>
            <a:off x="0" y="164520"/>
            <a:ext cx="12191400" cy="4536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502920" y="41148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Hexagonal → Clean: reorganización propuesta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"/>
          <p:cNvSpPr/>
          <p:nvPr/>
        </p:nvSpPr>
        <p:spPr>
          <a:xfrm>
            <a:off x="530280" y="86868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La lógica no cambia; se mueven responsabilidades a nombres más explícitos de Clean Architecture.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1005840" y="1234440"/>
            <a:ext cx="4297320" cy="50256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5240">
            <a:solidFill>
              <a:srgbClr val="0B1F3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1051560" y="134424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HEXAGONAL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6263640" y="1234440"/>
            <a:ext cx="4297320" cy="502560"/>
          </a:xfrm>
          <a:prstGeom prst="roundRect">
            <a:avLst>
              <a:gd name="adj" fmla="val 14545"/>
            </a:avLst>
          </a:prstGeom>
          <a:solidFill>
            <a:srgbClr val="0B1F3A"/>
          </a:solidFill>
          <a:ln w="15240">
            <a:solidFill>
              <a:srgbClr val="0B1F3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6309360" y="134424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CLEAN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1005840" y="173736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1097280" y="182880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domain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0"/>
          <p:cNvSpPr/>
          <p:nvPr/>
        </p:nvSpPr>
        <p:spPr>
          <a:xfrm>
            <a:off x="6263640" y="173736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6355080" y="182880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domain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2"/>
          <p:cNvSpPr/>
          <p:nvPr/>
        </p:nvSpPr>
        <p:spPr>
          <a:xfrm>
            <a:off x="5440680" y="1993320"/>
            <a:ext cx="685800" cy="36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3"/>
          <p:cNvSpPr/>
          <p:nvPr/>
        </p:nvSpPr>
        <p:spPr>
          <a:xfrm>
            <a:off x="1005840" y="2240280"/>
            <a:ext cx="4297320" cy="5025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1097280" y="233172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application/usecase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5"/>
          <p:cNvSpPr/>
          <p:nvPr/>
        </p:nvSpPr>
        <p:spPr>
          <a:xfrm>
            <a:off x="6263640" y="2240280"/>
            <a:ext cx="4297320" cy="5025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6"/>
          <p:cNvSpPr/>
          <p:nvPr/>
        </p:nvSpPr>
        <p:spPr>
          <a:xfrm>
            <a:off x="6355080" y="233172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application/port/in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7"/>
          <p:cNvSpPr/>
          <p:nvPr/>
        </p:nvSpPr>
        <p:spPr>
          <a:xfrm>
            <a:off x="5440680" y="2496240"/>
            <a:ext cx="685800" cy="36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8"/>
          <p:cNvSpPr/>
          <p:nvPr/>
        </p:nvSpPr>
        <p:spPr>
          <a:xfrm>
            <a:off x="1005840" y="274320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9"/>
          <p:cNvSpPr/>
          <p:nvPr/>
        </p:nvSpPr>
        <p:spPr>
          <a:xfrm>
            <a:off x="1097280" y="283464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domain/repository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0"/>
          <p:cNvSpPr/>
          <p:nvPr/>
        </p:nvSpPr>
        <p:spPr>
          <a:xfrm>
            <a:off x="6263640" y="274320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1"/>
          <p:cNvSpPr/>
          <p:nvPr/>
        </p:nvSpPr>
        <p:spPr>
          <a:xfrm>
            <a:off x="6355080" y="283464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application/port/out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2"/>
          <p:cNvSpPr/>
          <p:nvPr/>
        </p:nvSpPr>
        <p:spPr>
          <a:xfrm>
            <a:off x="5440680" y="2999160"/>
            <a:ext cx="685800" cy="36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3"/>
          <p:cNvSpPr/>
          <p:nvPr/>
        </p:nvSpPr>
        <p:spPr>
          <a:xfrm>
            <a:off x="1005840" y="3246120"/>
            <a:ext cx="4297320" cy="5025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4"/>
          <p:cNvSpPr/>
          <p:nvPr/>
        </p:nvSpPr>
        <p:spPr>
          <a:xfrm>
            <a:off x="1097280" y="333756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presentation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5"/>
          <p:cNvSpPr/>
          <p:nvPr/>
        </p:nvSpPr>
        <p:spPr>
          <a:xfrm>
            <a:off x="6263640" y="3246120"/>
            <a:ext cx="4297320" cy="5025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6"/>
          <p:cNvSpPr/>
          <p:nvPr/>
        </p:nvSpPr>
        <p:spPr>
          <a:xfrm>
            <a:off x="6355080" y="333756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interface-adapters/in/rest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7"/>
          <p:cNvSpPr/>
          <p:nvPr/>
        </p:nvSpPr>
        <p:spPr>
          <a:xfrm>
            <a:off x="5440680" y="3502080"/>
            <a:ext cx="685800" cy="36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8"/>
          <p:cNvSpPr/>
          <p:nvPr/>
        </p:nvSpPr>
        <p:spPr>
          <a:xfrm>
            <a:off x="1005840" y="374904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9"/>
          <p:cNvSpPr/>
          <p:nvPr/>
        </p:nvSpPr>
        <p:spPr>
          <a:xfrm>
            <a:off x="1097280" y="384048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infrastructure JPA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0"/>
          <p:cNvSpPr/>
          <p:nvPr/>
        </p:nvSpPr>
        <p:spPr>
          <a:xfrm>
            <a:off x="6263640" y="374904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1"/>
          <p:cNvSpPr/>
          <p:nvPr/>
        </p:nvSpPr>
        <p:spPr>
          <a:xfrm>
            <a:off x="6355080" y="384048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interface-adapters/out/jpa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2"/>
          <p:cNvSpPr/>
          <p:nvPr/>
        </p:nvSpPr>
        <p:spPr>
          <a:xfrm>
            <a:off x="5440680" y="4005000"/>
            <a:ext cx="685800" cy="36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3"/>
          <p:cNvSpPr/>
          <p:nvPr/>
        </p:nvSpPr>
        <p:spPr>
          <a:xfrm>
            <a:off x="1005840" y="4251960"/>
            <a:ext cx="4297320" cy="5025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4"/>
          <p:cNvSpPr/>
          <p:nvPr/>
        </p:nvSpPr>
        <p:spPr>
          <a:xfrm>
            <a:off x="1097280" y="434340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adapter-out-mongodb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5"/>
          <p:cNvSpPr/>
          <p:nvPr/>
        </p:nvSpPr>
        <p:spPr>
          <a:xfrm>
            <a:off x="6263640" y="4251960"/>
            <a:ext cx="4297320" cy="502560"/>
          </a:xfrm>
          <a:prstGeom prst="rect">
            <a:avLst/>
          </a:prstGeom>
          <a:solidFill>
            <a:srgbClr val="F1F5F9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6"/>
          <p:cNvSpPr/>
          <p:nvPr/>
        </p:nvSpPr>
        <p:spPr>
          <a:xfrm>
            <a:off x="6355080" y="434340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interface-adapters/out/mongodb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37"/>
          <p:cNvSpPr/>
          <p:nvPr/>
        </p:nvSpPr>
        <p:spPr>
          <a:xfrm>
            <a:off x="5440680" y="4507920"/>
            <a:ext cx="685800" cy="36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38"/>
          <p:cNvSpPr/>
          <p:nvPr/>
        </p:nvSpPr>
        <p:spPr>
          <a:xfrm>
            <a:off x="1005840" y="475488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9"/>
          <p:cNvSpPr/>
          <p:nvPr/>
        </p:nvSpPr>
        <p:spPr>
          <a:xfrm>
            <a:off x="1097280" y="484632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configuración Spring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40"/>
          <p:cNvSpPr/>
          <p:nvPr/>
        </p:nvSpPr>
        <p:spPr>
          <a:xfrm>
            <a:off x="6263640" y="4754880"/>
            <a:ext cx="4297320" cy="50256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1"/>
          <p:cNvSpPr/>
          <p:nvPr/>
        </p:nvSpPr>
        <p:spPr>
          <a:xfrm>
            <a:off x="6355080" y="4846320"/>
            <a:ext cx="41144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B1F3A"/>
                </a:solidFill>
                <a:effectLst/>
                <a:uFillTx/>
                <a:latin typeface="Aptos"/>
                <a:ea typeface="Aptos"/>
              </a:rPr>
              <a:t>frameworks/config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42"/>
          <p:cNvSpPr/>
          <p:nvPr/>
        </p:nvSpPr>
        <p:spPr>
          <a:xfrm>
            <a:off x="5440680" y="5010840"/>
            <a:ext cx="685800" cy="360"/>
          </a:xfrm>
          <a:prstGeom prst="line">
            <a:avLst/>
          </a:prstGeom>
          <a:ln w="19050">
            <a:solidFill>
              <a:srgbClr val="64748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43"/>
          <p:cNvSpPr/>
          <p:nvPr/>
        </p:nvSpPr>
        <p:spPr>
          <a:xfrm>
            <a:off x="11338560" y="6446520"/>
            <a:ext cx="5025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04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Scoring Crediticio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recomendada refinada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8890">
            <a:solidFill>
              <a:srgbClr val="B7C1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53312"/>
            <a:ext cx="3337560" cy="457200"/>
          </a:xfrm>
          <a:prstGeom prst="roundRect">
            <a:avLst>
              <a:gd name="adj" fmla="val 16000"/>
            </a:avLst>
          </a:prstGeom>
          <a:solidFill>
            <a:srgbClr val="E9F7EF"/>
          </a:solidFill>
          <a:ln w="15240">
            <a:solidFill>
              <a:srgbClr val="1E8E5A"/>
            </a:solidFill>
            <a:prstDash val="solid"/>
          </a:ln>
        </p:spPr>
        <p:txBody>
          <a:bodyPr/>
          <a:lstStyle/>
          <a:p>
            <a:endParaRPr lang="es-PE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536192"/>
            <a:ext cx="3154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motor-scoring-domain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43400" y="1453896"/>
            <a:ext cx="6858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9"/>
                </a:solidFill>
              </a:rPr>
              <a:t>Entidades, VO, reglas y servicios de dominio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3337560" cy="457200"/>
          </a:xfrm>
          <a:prstGeom prst="roundRect">
            <a:avLst>
              <a:gd name="adj" fmla="val 16000"/>
            </a:avLst>
          </a:prstGeom>
          <a:solidFill>
            <a:srgbClr val="FFF3E2"/>
          </a:solidFill>
          <a:ln w="15240">
            <a:solidFill>
              <a:srgbClr val="F2A2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154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motor-scoring-application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2112264"/>
            <a:ext cx="6858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9"/>
                </a:solidFill>
              </a:rPr>
              <a:t>port.in, port.out, use case services, commands, DTOs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2670048"/>
            <a:ext cx="3337560" cy="45720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1464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52928"/>
            <a:ext cx="3154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motor-scoring-adapter-in-rest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43400" y="2770632"/>
            <a:ext cx="6858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9"/>
                </a:solidFill>
              </a:rPr>
              <a:t>Controller, request, response, exception handler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" y="3328416"/>
            <a:ext cx="3337560" cy="457200"/>
          </a:xfrm>
          <a:prstGeom prst="roundRect">
            <a:avLst>
              <a:gd name="adj" fmla="val 16000"/>
            </a:avLst>
          </a:prstGeom>
          <a:solidFill>
            <a:srgbClr val="F2ECFA"/>
          </a:solidFill>
          <a:ln w="15240">
            <a:solidFill>
              <a:srgbClr val="6B4C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511296"/>
            <a:ext cx="3154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motor-scoring-adapter-out-jpa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43400" y="3429000"/>
            <a:ext cx="6858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9"/>
                </a:solidFill>
              </a:rPr>
              <a:t>JPA/H2 adapters, entities, repositories, mappers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" y="3986784"/>
            <a:ext cx="3337560" cy="457200"/>
          </a:xfrm>
          <a:prstGeom prst="roundRect">
            <a:avLst>
              <a:gd name="adj" fmla="val 16000"/>
            </a:avLst>
          </a:prstGeom>
          <a:solidFill>
            <a:srgbClr val="E6F8FB"/>
          </a:solidFill>
          <a:ln w="15240">
            <a:solidFill>
              <a:srgbClr val="00A6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9664"/>
            <a:ext cx="3154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motor-scoring-adapter-out-mongodb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43400" y="4087368"/>
            <a:ext cx="6858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9"/>
                </a:solidFill>
              </a:rPr>
              <a:t>Mongo adapters, documents, repositories, sequence, initializer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" y="4645152"/>
            <a:ext cx="3337560" cy="457200"/>
          </a:xfrm>
          <a:prstGeom prst="roundRect">
            <a:avLst>
              <a:gd name="adj" fmla="val 16000"/>
            </a:avLst>
          </a:prstGeom>
          <a:solidFill>
            <a:srgbClr val="FDECEC"/>
          </a:solidFill>
          <a:ln w="15240">
            <a:solidFill>
              <a:srgbClr val="C542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828032"/>
            <a:ext cx="3154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motor-scoring-frameworks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43400" y="4745736"/>
            <a:ext cx="6858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9"/>
                </a:solidFill>
              </a:rPr>
              <a:t>Spring config, JPA/Mongo config, transaction wrappers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" y="5303520"/>
            <a:ext cx="3337560" cy="457200"/>
          </a:xfrm>
          <a:prstGeom prst="roundRect">
            <a:avLst>
              <a:gd name="adj" fmla="val 16000"/>
            </a:avLst>
          </a:prstGeom>
          <a:solidFill>
            <a:srgbClr val="EEF2F8"/>
          </a:solidFill>
          <a:ln w="1524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486400"/>
            <a:ext cx="31546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</a:rPr>
              <a:t>motor-scoring-bootstrap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343400" y="5404104"/>
            <a:ext cx="68580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1C2B39"/>
                </a:solidFill>
              </a:rPr>
              <a:t>MotorScoringApplication y application*.yml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8680" y="6199632"/>
            <a:ext cx="10332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0B1F3A"/>
                </a:solidFill>
              </a:rPr>
              <a:t>Refinamiento: separar REST, JPA y MongoDB en módulos distintos para aislar dependencias técnicas.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11750040" y="660196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78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Módulos: Onion real vs Hexagonal real vs Clean propuesta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43484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Responsabilidad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Núcleo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motor-scoring-domain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Casos de uso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Contratos de repositorio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application/port/out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REST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motor-scoring-adapter-in-rest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JPA/H2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motor-scoring-infrastructure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motor-scoring-adapter-out-jpa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 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motor-scoring-adapter-out-mongodb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Config. técnica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+ adapter-out-mongodb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motor-scoring-frameworks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Arranque Spring Boot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motor-scoring-bootstrap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módulos (Onion/Hexagonal)  →  7 módulos (Clean): REST, JPA y MongoDB se separan en módulos Maven independientes.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de entrada y salida (port/in, port/out)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IN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de casos de uso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Onion y Hexagonal viven en application/usecase/. En Clean se tratan explícitamente como puertos de entrada, simétricos a los de salida.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8680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CrearSolicitudCreditoUseCase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EjecutarEvaluacionScoringUseCase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application/port/in/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</p:sp>
      <p:sp>
        <p:nvSpPr>
          <p:cNvPr id="16" name="Shape 14"/>
          <p:cNvSpPr/>
          <p:nvPr/>
        </p:nvSpPr>
        <p:spPr>
          <a:xfrm>
            <a:off x="6565392" y="18745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/ OUT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persistencia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Pasan de domain/repository/ (Onion y Hexagonal) a application/port/out/, porque son dependencias que necesitan los casos de uso, no el dominio.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3611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SolicitudCreditoRepository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65392" y="39410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SolicitanteRepository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65392" y="42702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ProductoCrediticioRepository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65392" y="45994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ModeloScoringRepository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65392" y="49286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EvaluacionCrediticiaRepository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65392" y="53035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application/port/out/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DE DISEÑO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separar adapters en módulos distintos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4FD1C5">
              <a:alpha val="8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adapter-in-rest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 conocer Spring Web y application.port.in.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debe tener MongoTemplate ni JpaRepository.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00200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8B7FD6">
              <a:alpha val="8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1600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adapter-out-jpa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43400" y="228600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 conocer Spring Data JPA, H2, application.port.out y domain.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F2C94C">
              <a:alpha val="8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6002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adapter-out-mongodb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38160" y="228600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 conocer Spring Data MongoDB, application.port.out y domain.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3A1A22"/>
          </a:solidFill>
          <a:ln w="12700">
            <a:solidFill>
              <a:srgbClr val="C0435A">
                <a:alpha val="7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023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A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todo estuviera en un solo módulo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controller podría importar accidentalmente MongoTemplate o JpaRepository, y el compilador lo permitiría. El error solo se detecta leyendo código o con ArchUnit.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37947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153328"/>
          </a:solidFill>
          <a:ln w="12700">
            <a:solidFill>
              <a:srgbClr val="4FD1C5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9672" y="4023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módulos separados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19672" y="4434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módulo REST no declara dependencias de JPA ni de Mongo en su pom.xml. Ese error de diseño ni siquiera compila: la arquitectura queda protegida en tiempo de build.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adapter-in-rest, adapter-out-jpa y adapter-out-mongodb → 3 módulos Maven, cada uno con su propio pom.xml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ADAPTERS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módulos Maven independientes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adapter-in-rest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motor-scoring-adapter-in-rest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77240" y="245059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adapter/in/rest/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81635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SolicitudCreditoController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3192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GlobalExceptionHandler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38221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(request / response)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516636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1C3A63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pom.xml propio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8B7FD6">
              <a:alpha val="8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adapter-out-jpa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0" y="22402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motor-scoring-adapter-out-jpa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72000" y="245059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adapter/out/jpa/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281635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SolicitudCreditoJpaRepositoryAdapter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0" y="33192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(entity / mapper / repository)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0" y="516636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1C3A63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pom.xml propio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3816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132A4C"/>
          </a:solidFill>
          <a:ln/>
        </p:spPr>
      </p:sp>
      <p:sp>
        <p:nvSpPr>
          <p:cNvPr id="24" name="Shape 22"/>
          <p:cNvSpPr/>
          <p:nvPr/>
        </p:nvSpPr>
        <p:spPr>
          <a:xfrm>
            <a:off x="8366760" y="1783080"/>
            <a:ext cx="315468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8366760" y="17830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adapter-out-mongodb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66760" y="22402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motor-scoring-adapter-out-mongodb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366760" y="245059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adapter/out/mongodb/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66760" y="281635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SolicitudCreditoMongoRepositoryAdapter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66760" y="33192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sequence/MongoSequenceService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66760" y="38221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initializer/MongoReferenceDataInitializer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66760" y="5166360"/>
            <a:ext cx="3154680" cy="365760"/>
          </a:xfrm>
          <a:prstGeom prst="roundRect">
            <a:avLst>
              <a:gd name="adj" fmla="val 15000"/>
            </a:avLst>
          </a:prstGeom>
          <a:solidFill>
            <a:srgbClr val="1C3A63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5166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pom.xml propio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declara solo sus dependencias: REST no tiene Spring Data JPA ni MongoDB en su classpath.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&amp; DRIVERS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técnica y wrappers transaccionales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4FD1C5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framework/config/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74320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81635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ApplicationBeanConfiguration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07238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renombrada desde OnionBeanConfiguration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347472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5478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JpaPersistenceConfiguration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51560" y="380390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H2/JPA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4206240"/>
            <a:ext cx="4754880" cy="621792"/>
          </a:xfrm>
          <a:prstGeom prst="roundRect">
            <a:avLst>
              <a:gd name="adj" fmla="val 8824"/>
            </a:avLst>
          </a:prstGeom>
          <a:solidFill>
            <a:srgbClr val="1C3A63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2793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MongoPersistenceConfiguration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4535424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MongoDB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45352" y="16002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132A4C"/>
          </a:solidFill>
          <a:ln/>
        </p:spPr>
      </p:sp>
      <p:sp>
        <p:nvSpPr>
          <p:cNvPr id="18" name="Shape 16"/>
          <p:cNvSpPr/>
          <p:nvPr/>
        </p:nvSpPr>
        <p:spPr>
          <a:xfrm>
            <a:off x="6565392" y="1874520"/>
            <a:ext cx="2194560" cy="310896"/>
          </a:xfrm>
          <a:prstGeom prst="roundRect">
            <a:avLst>
              <a:gd name="adj" fmla="val 23529"/>
            </a:avLst>
          </a:prstGeom>
          <a:solidFill>
            <a:srgbClr val="F2C94C">
              <a:alpha val="8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565392" y="18745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NUEVO EN CLEAN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6539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 transaccionales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6539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Aíslan @Transactional del núcleo de aplicación: la anotación de framework queda en Frameworks &amp; Drivers, no en application/service/.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65392" y="3611880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6667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TransactionalCrearSolicitudCreditoUseCase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48272" y="38770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65392" y="4233672"/>
            <a:ext cx="4754880" cy="502920"/>
          </a:xfrm>
          <a:prstGeom prst="roundRect">
            <a:avLst>
              <a:gd name="adj" fmla="val 10909"/>
            </a:avLst>
          </a:prstGeom>
          <a:solidFill>
            <a:srgbClr val="1C3A63"/>
          </a:solidFill>
          <a:ln/>
        </p:spPr>
      </p:sp>
      <p:sp>
        <p:nvSpPr>
          <p:cNvPr id="26" name="Text 24"/>
          <p:cNvSpPr/>
          <p:nvPr/>
        </p:nvSpPr>
        <p:spPr>
          <a:xfrm>
            <a:off x="6748272" y="428853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TransactionalEjecutarEvaluacionScoringUseCase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48272" y="449884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8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framework/transaction/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Clases que cambian de ubicación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489204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Onion real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FD1C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real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A19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propuesta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D1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CrearSolicitudCreditoUseCase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application/usecase/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application/port/in/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SolicitudCreditoRepository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domain/repository/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application/port/out/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SolicitudCreditoController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motor-scoring-presentation/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adapter-in-rest/.../controller/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SolicitudCreditoJpaRepositoryAdapter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infrastructure/persistence/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adapter-out-jpa/.../adapter/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SolicitudCreditoMongoRepositoryAdapter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adapter-out-mongodb/.../adapter/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MongoReferenceDataInitializer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adapter-out-mongodb/.../initializer/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TransactionalCrearSolicitudCreditoUseCase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6B84A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frameworks/framework/transaction/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3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9FB3C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ApplicationBeanConfiguration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9FB3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bootstrap/ (OnionBeanConfiguration)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frameworks/framework/config/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19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ESQUEMA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 módulos Clean propuesta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035040" cy="4800600"/>
          </a:xfrm>
          <a:prstGeom prst="roundRect">
            <a:avLst>
              <a:gd name="adj" fmla="val 1905"/>
            </a:avLst>
          </a:prstGeom>
          <a:solidFill>
            <a:srgbClr val="081426"/>
          </a:solidFill>
          <a:ln w="12700">
            <a:solidFill>
              <a:srgbClr val="1C3A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motor-scoring-domain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entity/ · valueobject/ · service/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2768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motor-scoring-application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596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port/in/ · port/out/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service/ · command/ · dto/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motor-scoring-adapter-in-rest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447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adapter/in/rest/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3712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motor-scoring-adapter-out-jpa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40325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adapter/out/jpa/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motor-scoring-adapter-out-mongodb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adapter/out/mongodb/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8828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motor-scoring-frameworks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5202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framework/config/ · framework/transaction/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2960" y="5468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D1C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motor-scoring-bootstrap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5788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pom.xml · MotorScoringApplication.java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85432" y="1463040"/>
            <a:ext cx="4754880" cy="4800600"/>
          </a:xfrm>
          <a:prstGeom prst="roundRect">
            <a:avLst>
              <a:gd name="adj" fmla="val 1923"/>
            </a:avLst>
          </a:prstGeom>
          <a:solidFill>
            <a:srgbClr val="132A4C"/>
          </a:solidFill>
          <a:ln/>
        </p:spPr>
      </p:sp>
      <p:sp>
        <p:nvSpPr>
          <p:cNvPr id="21" name="Text 19"/>
          <p:cNvSpPr/>
          <p:nvPr/>
        </p:nvSpPr>
        <p:spPr>
          <a:xfrm>
            <a:off x="7159752" y="1691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CAMBIA REALMENTE?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59752" y="2103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módulos Maven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59752" y="23957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lugar de 4 (Onion/Hexagonal): domain, application, 3 adapters, frameworks y bootstrap.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59752" y="3200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Puertos simétricos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59752" y="34930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port/in y port/out conviven en application/, haciendo visibles ambos límites del núcleo.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59752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Adapters aislados por pom.xml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59752" y="459028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REST, JPA/H2 y MongoDB quedan en módulos separados; cada uno declara solo sus dependencias reales.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59752" y="5394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Dominio sin cambios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59752" y="568756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Entidades, value objects, servicios de dominio y reglas de scoring permanecen idénticos.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D1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arquitecturas, un mismo núcleo de negocio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6B84A3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por capas (domain, application, presentation, infrastructure) dentro de módulos Maven independientes.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4FD1C5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Formaliza puertos y adaptadores; incorpora MongoDB como adaptador de salida real, sin tocar el dominio.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32A4C"/>
          </a:solidFill>
          <a:ln/>
        </p:spPr>
      </p:sp>
      <p:sp>
        <p:nvSpPr>
          <p:cNvPr id="13" name="Shape 11"/>
          <p:cNvSpPr/>
          <p:nvPr/>
        </p:nvSpPr>
        <p:spPr>
          <a:xfrm>
            <a:off x="8366760" y="18745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2C94C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836676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9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242316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REST, JPA y MongoDB en 3 módulos independientes con pom.xml propio, hace explícitos los puertos in/out y aísla frameworks y transacciones.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0F2A4A"/>
          </a:solidFill>
          <a:ln w="12700">
            <a:solidFill>
              <a:srgbClr val="4FD1C5">
                <a:alpha val="4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motor de scoring no cambia de comportamiento en ninguna de las tres.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51937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cambia es dónde vive cada dependencia y qué tan explícitos son los límites entre el negocio y el framework — 989 puntos, PREAPROBADA, 9 factores, modelo v1.1.0, en cualquiera de las tres.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757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8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2582</Words>
  <Application>Microsoft Office PowerPoint</Application>
  <PresentationFormat>Panorámica</PresentationFormat>
  <Paragraphs>438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Courier New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antonio</cp:lastModifiedBy>
  <cp:revision>3</cp:revision>
  <dcterms:created xsi:type="dcterms:W3CDTF">2026-08-13T02:49:22Z</dcterms:created>
  <dcterms:modified xsi:type="dcterms:W3CDTF">2026-08-13T03:06:54Z</dcterms:modified>
</cp:coreProperties>
</file>