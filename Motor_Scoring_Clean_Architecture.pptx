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069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3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760720" y="137160"/>
            <a:ext cx="6583680" cy="6583680"/>
          </a:xfrm>
          <a:prstGeom prst="ellipse">
            <a:avLst/>
          </a:prstGeom>
          <a:ln w="12700">
            <a:solidFill>
              <a:srgbClr val="4FD1C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6492240" y="868680"/>
            <a:ext cx="5120640" cy="5120640"/>
          </a:xfrm>
          <a:prstGeom prst="ellipse">
            <a:avLst/>
          </a:prstGeom>
          <a:ln w="12700">
            <a:solidFill>
              <a:srgbClr val="6B84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223760" y="1600200"/>
            <a:ext cx="3657600" cy="365760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7955280" y="2331720"/>
            <a:ext cx="2194560" cy="2194560"/>
          </a:xfrm>
          <a:prstGeom prst="ellipse">
            <a:avLst/>
          </a:prstGeom>
          <a:ln w="12700">
            <a:solidFill>
              <a:srgbClr val="6B84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 arquitectónico: Onion vs Hexagonal vs Clean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21  ·  Spring Boot  ·  H2/JPA ↔ MongoDB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37DBC35-E772-517C-C537-D199C7CF7CB5}"/>
              </a:ext>
            </a:extLst>
          </p:cNvPr>
          <p:cNvSpPr/>
          <p:nvPr/>
        </p:nvSpPr>
        <p:spPr>
          <a:xfrm>
            <a:off x="640080" y="4038025"/>
            <a:ext cx="5486400" cy="1142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Integrantes:</a:t>
            </a:r>
          </a:p>
          <a:p>
            <a:pPr marL="0" indent="0">
              <a:buNone/>
            </a:pPr>
            <a:endParaRPr lang="en-US" sz="1200" dirty="0">
              <a:solidFill>
                <a:srgbClr val="6B84A3"/>
              </a:solidFill>
              <a:latin typeface="Arial" pitchFamily="34" charset="0"/>
              <a:cs typeface="Arial" pitchFamily="34" charset="-120"/>
            </a:endParaRPr>
          </a:p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cs typeface="Arial" pitchFamily="34" charset="-120"/>
              </a:rPr>
              <a:t>José Julca</a:t>
            </a:r>
          </a:p>
          <a:p>
            <a:r>
              <a:rPr lang="en-US" sz="1200" dirty="0">
                <a:solidFill>
                  <a:srgbClr val="6B84A3"/>
                </a:solidFill>
                <a:latin typeface="Arial" pitchFamily="34" charset="0"/>
                <a:cs typeface="Arial" pitchFamily="34" charset="-120"/>
              </a:rPr>
              <a:t>-  José Huaman </a:t>
            </a:r>
          </a:p>
          <a:p>
            <a:r>
              <a:rPr lang="en-US" sz="1200" dirty="0">
                <a:solidFill>
                  <a:srgbClr val="6B84A3"/>
                </a:solidFill>
                <a:latin typeface="Arial" pitchFamily="34" charset="0"/>
                <a:cs typeface="Arial" pitchFamily="34" charset="-120"/>
              </a:rPr>
              <a:t>-  Jhonatan Barrientos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partimos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868680" y="176479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base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 implementado en Onion y en Hexagonal, este último con adaptadores de persistencia intercambiables H2/JPA y MongoDB, seleccionados vía spring.profiles.active.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68680" y="322783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esta actividad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Proponer una reestructuración del mismo motor bajo Clean Architecture, sin modificar la lógica de negocio ni las reglas de scoring.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52628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6868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50292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partió del árbol de módulos real de Onion y Hexagonal, y se derivó un esquema Clean con puertos de entrada/salida explícitos.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818120" y="1600200"/>
            <a:ext cx="3794760" cy="4251960"/>
          </a:xfrm>
          <a:prstGeom prst="roundRect">
            <a:avLst>
              <a:gd name="adj" fmla="val 2410"/>
            </a:avLst>
          </a:prstGeom>
          <a:solidFill>
            <a:srgbClr val="1C3A63"/>
          </a:solidFill>
          <a:ln w="12700">
            <a:solidFill>
              <a:srgbClr val="4FD1C5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09244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DE REFERENCIA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2440" y="21945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989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092440" y="3063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 de score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352044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8092440" y="35204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PREAPROBADA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2440" y="4114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Factores evaluados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92440" y="4343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92440" y="4709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scoring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92440" y="4937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v1.1.0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92440" y="5303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92440" y="5532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/ MongoDB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capas de Clean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4297680" cy="4297680"/>
          </a:xfrm>
          <a:prstGeom prst="ellipse">
            <a:avLst/>
          </a:prstGeom>
          <a:solidFill>
            <a:srgbClr val="132A4C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1417320" y="2377440"/>
            <a:ext cx="3200400" cy="3200400"/>
          </a:xfrm>
          <a:prstGeom prst="ellipse">
            <a:avLst/>
          </a:prstGeom>
          <a:solidFill>
            <a:srgbClr val="1C3A63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2011680" y="2971800"/>
            <a:ext cx="2011680" cy="2011680"/>
          </a:xfrm>
          <a:prstGeom prst="ellipse">
            <a:avLst/>
          </a:prstGeom>
          <a:solidFill>
            <a:srgbClr val="2A4D7A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Shape 5"/>
          <p:cNvSpPr/>
          <p:nvPr/>
        </p:nvSpPr>
        <p:spPr>
          <a:xfrm>
            <a:off x="2514600" y="3474720"/>
            <a:ext cx="1005840" cy="1005840"/>
          </a:xfrm>
          <a:prstGeom prst="ellipse">
            <a:avLst/>
          </a:prstGeom>
          <a:solidFill>
            <a:srgbClr val="4FD1C5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2514600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32120" y="2029968"/>
            <a:ext cx="91440" cy="91440"/>
          </a:xfrm>
          <a:prstGeom prst="ellipse">
            <a:avLst/>
          </a:prstGeom>
          <a:solidFill>
            <a:srgbClr val="9FB3C8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5742432" y="18928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42432" y="218541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motor-scoring-frameworks — Spring, JPA, MongoDB driver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32120" y="289864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5742432" y="2761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742432" y="30540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motor-scoring-interface-adapters — Controllers, repository adapters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532120" y="376732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5742432" y="36301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742432" y="3922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port/in, port/out, UseCases, Services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4636008"/>
            <a:ext cx="91440" cy="91440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5742432" y="44988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742432" y="47914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Entities, Value Objects, Domain Services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818120" y="1600200"/>
            <a:ext cx="3794760" cy="4251960"/>
          </a:xfrm>
          <a:prstGeom prst="roundRect">
            <a:avLst>
              <a:gd name="adj" fmla="val 241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80924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DE DEPENDENCIA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dependencias del código fuente solo pueden apuntar hacia adentro. Nada en una capa interna conoce nada de una capa externa.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00984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8275320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no importa Spring ni JPA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92440" y="3922776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8275320" y="3794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depende solo de Domain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92440" y="4544568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/>
          <p:nvPr/>
        </p:nvSpPr>
        <p:spPr>
          <a:xfrm>
            <a:off x="8275320" y="44165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 implementa los puertos de Application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92440" y="5166360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/>
          <p:nvPr/>
        </p:nvSpPr>
        <p:spPr>
          <a:xfrm>
            <a:off x="8275320" y="5038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 configura todo desde afuera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Módulos: Onion real vs Hexagonal real vs Clean propuesta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47091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Responsabilidad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Onion real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real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A19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propuesta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1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Núcleo de negocio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Casos de uso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motor-scoring-application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motor-scoring-application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motor-scoring-application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REST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interface-adapters/adapter/in/rest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 JPA/H2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motor-scoring-infrastructure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motor-scoring-infrastructure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interface-adapters/adapter/out/jpa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 MongoDB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interface-adapters/adapter/out/mongodb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Config. técnica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+ 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+ adapter-out-mongodb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motor-scoring-frameworks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Arranque Spring Boot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Puertos de entrada y salida (port/in, port/out)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68680" y="1874520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/ IN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de casos de uso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Onion y Hexagonal viven en application/usecase/. En Clean se tratan explícitamente como puertos de entrada, simétricos a los de salida.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8680" y="361188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1051560" y="36667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CrearSolicitudCreditoUseCase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38770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application/port/in/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68680" y="4233672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1051560" y="428853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EjecutarEvaluacionScoringUseCase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44988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application/port/in/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45352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6565392" y="187452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6565392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/ OUT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5392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persistencia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6539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Pasan de domain/repository/ (Onion y Hexagonal) a application/port/out/, porque son dependencias que necesitan los casos de uso, no el dominio.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3611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SolicitudCreditoRepository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65392" y="394106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SolicitanteRepository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65392" y="42702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ProductoCrediticioRepository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65392" y="45994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ModeloScoringRepository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65392" y="49286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EvaluacionCrediticiaRepository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65392" y="53035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application/port/out/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módulo agrupa entrada y salida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466344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· REST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adapter/in/rest/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SolicitudCreditoController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CrearSolicitudCreditoRequest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611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EjecutarEvaluacionScoringRequest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SolicitudCreditoResponse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4617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ResultadoFactorResponse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51206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GlobalExceptionHandler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66344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Shape 13"/>
          <p:cNvSpPr/>
          <p:nvPr/>
        </p:nvSpPr>
        <p:spPr>
          <a:xfrm>
            <a:off x="457200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JPA/H2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0" y="2240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adapter/out/jpa/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26060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SolicitudCreditoJpaRepositoryAdapter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0" y="3108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SolicitudCreditoJpaEntity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0" y="3611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(mapper / repository)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38160" y="1554480"/>
            <a:ext cx="3611880" cy="466344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Shape 20"/>
          <p:cNvSpPr/>
          <p:nvPr/>
        </p:nvSpPr>
        <p:spPr>
          <a:xfrm>
            <a:off x="836676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8B7FD6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/>
          <p:nvPr/>
        </p:nvSpPr>
        <p:spPr>
          <a:xfrm>
            <a:off x="836676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MongoDB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66760" y="2240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adapter/out/mongodb/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366760" y="26060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SolicitudCreditoMongoRepositoryAdapter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66760" y="3108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SolicitanteMongoRepositoryAdapter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366760" y="3611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SolicitudCreditoMongoDocument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6676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sequence/MongoSequenceService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motor-scoring-interface-adapters   →   único módulo Maven para entrada y salida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técnica y wrappers transaccionales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68680" y="187452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framework/config/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74320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51560" y="281635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ApplicationBeanConfiguration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307238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renombrada desde OnionBeanConfiguration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347472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1051560" y="354787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JpaPersistenceConfiguration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51560" y="380390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H2/JPA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420624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1051560" y="42793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MongoPersistenceConfiguration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453542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MongoDB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45352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6565392" y="1874520"/>
            <a:ext cx="219456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6565392" y="18745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NUEVO EN CLEAN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65392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 transaccionales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6539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Aíslan @Transactional del núcleo de aplicación: la anotación de framework queda en Frameworks &amp; Drivers, no en application/service/.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65392" y="361188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/>
          <p:nvPr/>
        </p:nvSpPr>
        <p:spPr>
          <a:xfrm>
            <a:off x="6748272" y="36667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TransactionalCrearSolicitudCreditoUseCase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48272" y="38770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framework/transaction/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65392" y="4233672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/>
          <p:nvPr/>
        </p:nvSpPr>
        <p:spPr>
          <a:xfrm>
            <a:off x="6748272" y="428853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TransactionalEjecutarEvaluacionScoringUseCase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48272" y="44988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framework/transaction/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 que cambian de ubicación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475488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Onion real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real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A19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propuesta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1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CrearSolicitudCreditoUseCase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application/port/in/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SolicitudCreditoRepository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application/port/out/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SolicitudCreditoController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interface-adapters/adapter/in/rest/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SolicitudCreditoJpaRepositoryAdapter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infrastructure/persistence/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infrastructure/persistence/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interface-adapters/adapter/out/jpa/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SolicitudCreditoMongoRepositoryAdapter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interface-adapters/adapter/out/mongodb/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TransactionalCrearSolicitudCreditoUseCase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frameworks/framework/transaction/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ApplicationBeanConfiguration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bootstrap/ (OnionBeanConfiguration)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bootstrap/ (OnionBeanConfiguration)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frameworks/framework/config/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módulos Clean propuesta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4663440"/>
          </a:xfrm>
          <a:prstGeom prst="roundRect">
            <a:avLst>
              <a:gd name="adj" fmla="val 1961"/>
            </a:avLst>
          </a:prstGeom>
          <a:solidFill>
            <a:srgbClr val="081426"/>
          </a:solidFill>
          <a:ln w="12700">
            <a:solidFill>
              <a:srgbClr val="1C3A6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motor-scoring-domain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396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entity/ · valueobject/ · service/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048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motor-scoring-application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34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port/in/  (UseCases)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9992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port/out/  (Repositories)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2644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service/ · command/ · dto/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529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motor-scoring-interface-adapters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858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adapter/in/rest/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123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adapter/out/jpa/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adapter/out/mongodb/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6542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motor-scoring-frameworks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framework/config/ · framework/transaction/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5248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motor-scoring-bootstrap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5577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MotorScoringApplication.java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85432" y="1554480"/>
            <a:ext cx="4754880" cy="4663440"/>
          </a:xfrm>
          <a:prstGeom prst="roundRect">
            <a:avLst>
              <a:gd name="adj" fmla="val 1961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7159752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CAMBIA REALMENTE?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59752" y="2240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módulos Maven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9752" y="253288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lugar de 4 (Onion/Hexagonal), separando explícitamente Interface Adapters de Frameworks.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159752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Puertos simétricos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59752" y="35661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port/in y port/out conviven en application/, haciendo visibles ambos límites del núcleo.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59752" y="43068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módulo de adapters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59752" y="459943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REST, JPA/H2 y MongoDB se agrupan bajo interface-adapters/, en vez de repartirse en presentation/ + infrastructure/.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159752" y="53400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sin cambios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59752" y="563270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Entidades, value objects, servicios de dominio y reglas de scoring permanecen idénticos.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arquitecturas, un mismo núcleo de negocio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6B84A3">
              <a:alpha val="90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por capas (domain, application, presentation, infrastructure) dentro de módulos Maven independientes.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457200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4FD1C5">
              <a:alpha val="90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57200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Formaliza puertos y adaptadores; incorpora MongoDB como adaptador de salida real, sin tocar el dominio.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Shape 11"/>
          <p:cNvSpPr/>
          <p:nvPr/>
        </p:nvSpPr>
        <p:spPr>
          <a:xfrm>
            <a:off x="836676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2C94C">
              <a:alpha val="90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36676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 todos los adaptadores en Interface Adapters, hace explícitos los puertos in/out y aísla frameworks y transacciones.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0F2A4A"/>
          </a:solidFill>
          <a:ln w="12700">
            <a:solidFill>
              <a:srgbClr val="4FD1C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68680" y="4800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 de scoring no cambia de comportamiento en ninguna de las tres.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519379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cambia es dónde vive cada dependencia y qué tan explícitos son los límites entre el negocio y el framework — 989 puntos, PREAPROBADA, 9 factores, modelo v1.1.0, en cualquiera de las tres.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3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3899916" y="914400"/>
            <a:ext cx="4389120" cy="4389120"/>
          </a:xfrm>
          <a:prstGeom prst="ellipse">
            <a:avLst/>
          </a:prstGeom>
          <a:ln w="12700">
            <a:solidFill>
              <a:srgbClr val="4FD1C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4539996" y="1554480"/>
            <a:ext cx="3108960" cy="310896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5180076" y="2194560"/>
            <a:ext cx="1828800" cy="182880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0" y="41148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0" y="4937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 · Onion / Hexagonal / Clean Architecture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1025</Words>
  <Application>Microsoft Office PowerPoint</Application>
  <PresentationFormat>Widescreen</PresentationFormat>
  <Paragraphs>226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José Antonio Julca Díaz</cp:lastModifiedBy>
  <cp:revision>3</cp:revision>
  <dcterms:created xsi:type="dcterms:W3CDTF">2026-08-12T17:20:36Z</dcterms:created>
  <dcterms:modified xsi:type="dcterms:W3CDTF">2026-08-13T01:12:29Z</dcterms:modified>
</cp:coreProperties>
</file>