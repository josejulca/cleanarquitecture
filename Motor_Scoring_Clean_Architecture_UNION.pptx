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5" r:id="rId10"/>
    <p:sldId id="273" r:id="rId11"/>
    <p:sldId id="286" r:id="rId12"/>
    <p:sldId id="271" r:id="rId13"/>
    <p:sldId id="258" r:id="rId14"/>
    <p:sldId id="257" r:id="rId15"/>
    <p:sldId id="283" r:id="rId16"/>
    <p:sldId id="284" r:id="rId17"/>
    <p:sldId id="275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2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3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F3F7F-FDB7-4583-A7F7-F7145FB573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77F71E-4BAB-43F6-A306-BD4C35F7BF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BD7F60-8C0E-4633-B951-9D69DC6371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ECF0AB-CE32-4988-904F-D2BFFC8F62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169F87-B7B0-4192-907E-8A16653C2A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2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3787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0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137160"/>
            <a:ext cx="6583680" cy="6583680"/>
          </a:xfrm>
          <a:prstGeom prst="ellipse">
            <a:avLst/>
          </a:prstGeom>
          <a:ln w="12700">
            <a:solidFill>
              <a:srgbClr val="4FD1C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868680"/>
            <a:ext cx="5120640" cy="5120640"/>
          </a:xfrm>
          <a:prstGeom prst="ellipse">
            <a:avLst/>
          </a:prstGeom>
          <a:ln w="12700">
            <a:solidFill>
              <a:srgbClr val="6B84A3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600200"/>
            <a:ext cx="3657600" cy="3657600"/>
          </a:xfrm>
          <a:prstGeom prst="ellipse">
            <a:avLst/>
          </a:prstGeom>
          <a:ln w="12700">
            <a:solidFill>
              <a:srgbClr val="4FD1C5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2331720"/>
            <a:ext cx="2194560" cy="2194560"/>
          </a:xfrm>
          <a:prstGeom prst="ellipse">
            <a:avLst/>
          </a:prstGeom>
          <a:ln w="12700">
            <a:solidFill>
              <a:srgbClr val="6B84A3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arquitectónico: Onion vs Hexagonal vs Clean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 ·  Spring Boot  ·  H2/JPA ↔ MongoDB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Architecture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generales para considerar una solución como arquitectura limpia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</a:rPr>
              <a:t>En general, para que una solución pueda considerarse Clean Architecture, debería cumplir principalmente con estos criterios.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0561320" cy="758952"/>
          </a:xfrm>
          <a:prstGeom prst="roundRect">
            <a:avLst>
              <a:gd name="adj" fmla="val 7229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142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F766E"/>
                </a:solidFill>
              </a:rPr>
              <a:t>El objetivo es proteger las decisiones importantes del negocio frente a decisiones técnicas.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Clean Architecture · Criterios generales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principal e independencia del núcleo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capas internas no conocen a las externas.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68680" y="1627632"/>
            <a:ext cx="1060704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Dependency Rule: todas las dependencias deben apuntar hacia las capas internas. Las capas internas no conocen a las externas.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Dominio independiente: las entidades y reglas de negocio no dependen de frameworks, UI, base de datos, red ni infraestructura.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Casos de uso independientes: la lógica de aplicación coordina el negocio sin depender directamente de tecnologías concretas.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Clean Architecture · Criterios generales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Límites, infraestructura y UI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tecnología se trata como un detalle externo y reemplazable.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68680" y="1444752"/>
            <a:ext cx="1065276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710" dirty="0">
                <a:solidFill>
                  <a:srgbClr val="0F172A"/>
                </a:solidFill>
              </a:rPr>
              <a:t>• Abstracciones en los límites: la comunicación con bases de datos, servicios externos, mensajería, archivos, etc. se realiza mediante interfaces o contratos.</a:t>
            </a:r>
            <a:endParaRPr lang="en-US" sz="1710" dirty="0"/>
          </a:p>
          <a:p>
            <a:pPr marL="0" indent="0">
              <a:buNone/>
            </a:pPr>
            <a:endParaRPr lang="en-US" sz="1710" dirty="0"/>
          </a:p>
          <a:p>
            <a:pPr marL="0" indent="0">
              <a:buNone/>
            </a:pPr>
            <a:r>
              <a:rPr lang="en-US" sz="1710" dirty="0">
                <a:solidFill>
                  <a:srgbClr val="0F172A"/>
                </a:solidFill>
              </a:rPr>
              <a:t>• Infraestructura reemplazable: debería poder cambiarse una base de datos, framework web o servicio externo con mínimo impacto en el núcleo.</a:t>
            </a:r>
            <a:endParaRPr lang="en-US" sz="1710" dirty="0"/>
          </a:p>
          <a:p>
            <a:pPr marL="0" indent="0">
              <a:buNone/>
            </a:pPr>
            <a:endParaRPr lang="en-US" sz="1710" dirty="0"/>
          </a:p>
          <a:p>
            <a:pPr marL="0" indent="0">
              <a:buNone/>
            </a:pPr>
            <a:r>
              <a:rPr lang="en-US" sz="1710" dirty="0">
                <a:solidFill>
                  <a:srgbClr val="0F172A"/>
                </a:solidFill>
              </a:rPr>
              <a:t>• UI desacoplada: REST, web, consola, móvil o cualquier otra entrada son detalles externos; no deben contener reglas importantes del negocio.</a:t>
            </a:r>
            <a:endParaRPr lang="en-US" sz="1710" dirty="0"/>
          </a:p>
          <a:p>
            <a:pPr marL="0" indent="0">
              <a:buNone/>
            </a:pPr>
            <a:endParaRPr lang="en-US" sz="1710" dirty="0"/>
          </a:p>
          <a:p>
            <a:pPr marL="0" indent="0">
              <a:buNone/>
            </a:pPr>
            <a:r>
              <a:rPr lang="en-US" sz="1710" dirty="0">
                <a:solidFill>
                  <a:srgbClr val="0F172A"/>
                </a:solidFill>
              </a:rPr>
              <a:t>• Frameworks como detalles: Spring, .NET, Angular, MongoDB, JPA, Kafka, AWS, etc. deben quedar en las capas externas.</a:t>
            </a:r>
            <a:endParaRPr lang="en-US" sz="171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Clean Architecture · Criterios generales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Separación, testabilidad y persistencia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de negocio no se diseña en función de la tecnología.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5276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0F172A"/>
                </a:solidFill>
              </a:rPr>
              <a:t>• Separación de responsabilidades: cada capa tiene una función clara: negocio, casos de uso, adaptación y tecnología.</a:t>
            </a:r>
            <a:endParaRPr lang="en-US" sz="1870" dirty="0"/>
          </a:p>
          <a:p>
            <a:pPr marL="0" indent="0">
              <a:buNone/>
            </a:pP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0F172A"/>
                </a:solidFill>
              </a:rPr>
              <a:t>• Testabilidad: dominio y casos de uso deben poder probarse sin levantar bases de datos, servidores o frameworks completos.</a:t>
            </a:r>
            <a:endParaRPr lang="en-US" sz="1870" dirty="0"/>
          </a:p>
          <a:p>
            <a:pPr marL="0" indent="0">
              <a:buNone/>
            </a:pP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0F172A"/>
                </a:solidFill>
              </a:rPr>
              <a:t>• Independencia del mecanismo de persistencia: el modelo de negocio no debería diseñarse en función de tablas, documentos o anotaciones de persistencia.</a:t>
            </a:r>
            <a:endParaRPr lang="en-US" sz="187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Clean Architecture · Criterios generales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externos, ensamblaje y reglas verificables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integraciones se ubican fuera del núcleo.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5276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870" dirty="0">
                <a:solidFill>
                  <a:srgbClr val="0F172A"/>
                </a:solidFill>
              </a:rPr>
              <a:t>• Independencia de agentes externos: APIs, colas, correo, almacenamiento y otros sistemas externos se consideran detalles reemplazables.</a:t>
            </a:r>
            <a:endParaRPr lang="en-US" sz="1870" dirty="0"/>
          </a:p>
          <a:p>
            <a:pPr marL="0" indent="0">
              <a:buNone/>
            </a:pP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0F172A"/>
                </a:solidFill>
              </a:rPr>
              <a:t>• Composition Root externo: algún componente externo debe encargarse de ensamblar las implementaciones concretas con las abstracciones.</a:t>
            </a:r>
            <a:endParaRPr lang="en-US" sz="1870" dirty="0"/>
          </a:p>
          <a:p>
            <a:pPr marL="0" indent="0">
              <a:buNone/>
            </a:pPr>
            <a:endParaRPr lang="en-US" sz="1870" dirty="0"/>
          </a:p>
          <a:p>
            <a:pPr marL="0" indent="0">
              <a:buNone/>
            </a:pPr>
            <a:r>
              <a:rPr lang="en-US" sz="1870" dirty="0">
                <a:solidFill>
                  <a:srgbClr val="0F172A"/>
                </a:solidFill>
              </a:rPr>
              <a:t>• Reglas arquitectónicas verificables: idealmente se deben tener tests o controles que impidan dependencias incorrectas entre capas.</a:t>
            </a:r>
            <a:endParaRPr lang="en-US" sz="187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Clean Architecture · Criterios generales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final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Architecture no depende solo del nombre de las carpetas.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Clean Architecture busca que las decisiones importantes del negocio estén protegidas de las decisiones técnicas.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10652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328416"/>
            <a:ext cx="10012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20" dirty="0">
                <a:solidFill>
                  <a:srgbClr val="0F172A"/>
                </a:solidFill>
              </a:rPr>
              <a:t>Por eso, una arquitectura no es Clean simplemente porque tenga carpetas llamadas domain, application o adapter; debe cumplir realmente la dirección de dependencias y el desacoplamiento del núcleo.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Clean Architecture · Criterios generales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0" y="164520"/>
            <a:ext cx="12191400" cy="453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02920" y="4114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Objetivo de la migración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30280" y="8686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Cambiar la organización arquitectónica sin reescribir el scoring ni acoplar el núcleo a la infraestructura.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685800" y="1417320"/>
            <a:ext cx="3382920" cy="182844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524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685800" y="1417320"/>
            <a:ext cx="72720" cy="182844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914400" y="1563480"/>
            <a:ext cx="303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Antes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914400" y="1920240"/>
            <a:ext cx="303552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Arquitectura Hexagonal con puertos y adaptadores: REST entra por UseCase y H2/MongoDB implementan repositorios.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4434840" y="1417320"/>
            <a:ext cx="3382920" cy="182844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524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4434840" y="1417320"/>
            <a:ext cx="72720" cy="1828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4663440" y="1563480"/>
            <a:ext cx="303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Ahora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4663440" y="1920240"/>
            <a:ext cx="303552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Clean Architecture: se explicita Domain, Application, Interface Adapters, Frameworks y Bootstrap.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8183880" y="1417320"/>
            <a:ext cx="3108600" cy="18284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8412480" y="1563480"/>
            <a:ext cx="2761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Restricción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8412480" y="1920240"/>
            <a:ext cx="27612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No modificar la lógica del scoring: entidades, value objects, servicios de dominio, comandos, DTOs y casos de uso.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914400" y="3977640"/>
            <a:ext cx="10240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La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migración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debe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demostrar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independencia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del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núcleo</a:t>
            </a:r>
            <a:b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</a:b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Cambiar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MongoDB ↔ H2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afecta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solo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adaptadores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y </a:t>
            </a:r>
            <a:r>
              <a:rPr lang="en-US" sz="20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configuración</a:t>
            </a:r>
            <a:r>
              <a:rPr lang="en-US" sz="20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11338560" y="6446520"/>
            <a:ext cx="502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0" y="164520"/>
            <a:ext cx="12191400" cy="453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502920" y="4114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Punto por punto: en qué cumple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530280" y="8686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La sustentación debe conectar cada criterio con una decisión concreta del proyecto.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685800" y="11703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5"/>
          <p:cNvSpPr/>
          <p:nvPr/>
        </p:nvSpPr>
        <p:spPr>
          <a:xfrm>
            <a:off x="685800" y="1170360"/>
            <a:ext cx="72720" cy="1416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914400" y="1316880"/>
            <a:ext cx="303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Núcleo protegido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914400" y="1673280"/>
            <a:ext cx="3035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Domain contiene entidades, VOs y reglas. Application contiene servicios de caso de uso. No hay dependencias a Spring, JPA o MongoDB.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4434840" y="117036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9"/>
          <p:cNvSpPr/>
          <p:nvPr/>
        </p:nvSpPr>
        <p:spPr>
          <a:xfrm>
            <a:off x="4434840" y="1170360"/>
            <a:ext cx="72720" cy="141696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4663440" y="1316880"/>
            <a:ext cx="303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Entrada controlada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4663440" y="1673280"/>
            <a:ext cx="3035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El Controller REST entra por CrearSolicitudCreditoUseCase y EjecutarEvaluacionScoringUseCase.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8183880" y="1170360"/>
            <a:ext cx="310860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3"/>
          <p:cNvSpPr/>
          <p:nvPr/>
        </p:nvSpPr>
        <p:spPr>
          <a:xfrm>
            <a:off x="8183880" y="1170360"/>
            <a:ext cx="72720" cy="1416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8412480" y="1316880"/>
            <a:ext cx="2761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Salida desacoplada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8412480" y="1673280"/>
            <a:ext cx="2761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JPA y MongoDB implementan los mismos puertos de salida de la aplicación.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685800" y="315468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7"/>
          <p:cNvSpPr/>
          <p:nvPr/>
        </p:nvSpPr>
        <p:spPr>
          <a:xfrm>
            <a:off x="685800" y="3154680"/>
            <a:ext cx="72720" cy="1416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914400" y="3300840"/>
            <a:ext cx="303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Frameworks afuera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914400" y="3657600"/>
            <a:ext cx="3035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Spring, transacciones, configuración JPA y MongoDB viven en frameworks/bootstrap, no en domain/application.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0"/>
          <p:cNvSpPr/>
          <p:nvPr/>
        </p:nvSpPr>
        <p:spPr>
          <a:xfrm>
            <a:off x="4434840" y="3154680"/>
            <a:ext cx="33829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1"/>
          <p:cNvSpPr/>
          <p:nvPr/>
        </p:nvSpPr>
        <p:spPr>
          <a:xfrm>
            <a:off x="4434840" y="3154680"/>
            <a:ext cx="72720" cy="1416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2"/>
          <p:cNvSpPr/>
          <p:nvPr/>
        </p:nvSpPr>
        <p:spPr>
          <a:xfrm>
            <a:off x="4663440" y="3300840"/>
            <a:ext cx="303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Intercambio rápido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3"/>
          <p:cNvSpPr/>
          <p:nvPr/>
        </p:nvSpPr>
        <p:spPr>
          <a:xfrm>
            <a:off x="4663440" y="3657600"/>
            <a:ext cx="3035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El perfil h2 o mongodb cambia el adaptador activo sin tocar el código del negocio.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8183880" y="3154680"/>
            <a:ext cx="310860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5"/>
          <p:cNvSpPr/>
          <p:nvPr/>
        </p:nvSpPr>
        <p:spPr>
          <a:xfrm>
            <a:off x="8183880" y="3154680"/>
            <a:ext cx="72720" cy="1416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6"/>
          <p:cNvSpPr/>
          <p:nvPr/>
        </p:nvSpPr>
        <p:spPr>
          <a:xfrm>
            <a:off x="8412480" y="3300840"/>
            <a:ext cx="2761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Pruebas como evidencia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7"/>
          <p:cNvSpPr/>
          <p:nvPr/>
        </p:nvSpPr>
        <p:spPr>
          <a:xfrm>
            <a:off x="8412480" y="3657600"/>
            <a:ext cx="2761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ArchUnit valida dependencias; integración y E2E validan que H2 y MongoDB dan el mismo resultado.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8"/>
          <p:cNvSpPr/>
          <p:nvPr/>
        </p:nvSpPr>
        <p:spPr>
          <a:xfrm>
            <a:off x="11338560" y="6446520"/>
            <a:ext cx="502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definitivos para decir que es Clean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8890">
            <a:solidFill>
              <a:srgbClr val="B7C1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46304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56232" y="1353312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domain no depende de application, adapters, Spring, MongoDB ni JPA.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28600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56232" y="2176272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application solamente puede depender del domain.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310896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56232" y="2999232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application.port.in define las operaciones disponibles.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393192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56232" y="3822192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application.port.out define dependencias externas de los casos de uso.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475488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56232" y="4645152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Controllers dependen de port.in, nunca de persistencia.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37160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9F7EF"/>
          </a:solidFill>
          <a:ln w="12700">
            <a:solidFill>
              <a:srgbClr val="E9F7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46304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54112" y="1353312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2B39"/>
                </a:solidFill>
              </a:rPr>
              <a:t>JPA y MongoDB implementan port.out.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219456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9F7EF"/>
          </a:solidFill>
          <a:ln w="12700">
            <a:solidFill>
              <a:srgbClr val="E9F7E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228600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54112" y="2176272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2B39"/>
                </a:solidFill>
              </a:rPr>
              <a:t>Adapters dependen de application y domain; nunca al revés.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301752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9F7EF"/>
          </a:solidFill>
          <a:ln w="12700">
            <a:solidFill>
              <a:srgbClr val="E9F7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310896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54112" y="2999232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2B39"/>
                </a:solidFill>
              </a:rPr>
              <a:t>Frameworks permanecen en las capas externas.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38404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9F7EF"/>
          </a:solidFill>
          <a:ln w="12700">
            <a:solidFill>
              <a:srgbClr val="E9F7E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393192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54112" y="3822192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2B39"/>
                </a:solidFill>
              </a:rPr>
              <a:t>bootstrap/Composition Root ensambla todas las capas.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466344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9F7EF"/>
          </a:solidFill>
          <a:ln w="12700">
            <a:solidFill>
              <a:srgbClr val="E9F7E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75488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C10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54112" y="4645152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C2B39"/>
                </a:solidFill>
              </a:rPr>
              <a:t>Cambiar H2 por MongoDB no cambia domain ni application.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750040" y="66019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7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"/>
          <p:cNvSpPr/>
          <p:nvPr/>
        </p:nvSpPr>
        <p:spPr>
          <a:xfrm>
            <a:off x="0" y="164520"/>
            <a:ext cx="12191400" cy="453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502920" y="4114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Tema de pruebas: evidencia funcional y arquitectónica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530280" y="8686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Las pruebas no solo verifican resultados: también protegen la regla de dependencias.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685800" y="1261800"/>
            <a:ext cx="5120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5"/>
          <p:cNvSpPr/>
          <p:nvPr/>
        </p:nvSpPr>
        <p:spPr>
          <a:xfrm>
            <a:off x="685800" y="1261800"/>
            <a:ext cx="72720" cy="776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914400" y="140832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Domain unitario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914400" y="1764720"/>
            <a:ext cx="4772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Entidades, Value Objects, reglas puras. No Spring ni base de datos.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8"/>
          <p:cNvSpPr/>
          <p:nvPr/>
        </p:nvSpPr>
        <p:spPr>
          <a:xfrm>
            <a:off x="685800" y="2286000"/>
            <a:ext cx="5120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9"/>
          <p:cNvSpPr/>
          <p:nvPr/>
        </p:nvSpPr>
        <p:spPr>
          <a:xfrm>
            <a:off x="685800" y="2286000"/>
            <a:ext cx="72720" cy="776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914400" y="243216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Application unitario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914400" y="2788920"/>
            <a:ext cx="4772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Servicios de caso de uso con Mockito y puertos simulados.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685800" y="3310200"/>
            <a:ext cx="5120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3"/>
          <p:cNvSpPr/>
          <p:nvPr/>
        </p:nvSpPr>
        <p:spPr>
          <a:xfrm>
            <a:off x="685800" y="3310200"/>
            <a:ext cx="72720" cy="77688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4"/>
          <p:cNvSpPr/>
          <p:nvPr/>
        </p:nvSpPr>
        <p:spPr>
          <a:xfrm>
            <a:off x="914400" y="345636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Mapper unitario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5"/>
          <p:cNvSpPr/>
          <p:nvPr/>
        </p:nvSpPr>
        <p:spPr>
          <a:xfrm>
            <a:off x="914400" y="3813120"/>
            <a:ext cx="4772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Dominio ↔ Document/JPA sin perder datos.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6"/>
          <p:cNvSpPr/>
          <p:nvPr/>
        </p:nvSpPr>
        <p:spPr>
          <a:xfrm>
            <a:off x="685800" y="4334400"/>
            <a:ext cx="5120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7"/>
          <p:cNvSpPr/>
          <p:nvPr/>
        </p:nvSpPr>
        <p:spPr>
          <a:xfrm>
            <a:off x="685800" y="4334400"/>
            <a:ext cx="72720" cy="776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914400" y="448056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Infra Mongo unitario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9"/>
          <p:cNvSpPr/>
          <p:nvPr/>
        </p:nvSpPr>
        <p:spPr>
          <a:xfrm>
            <a:off x="914400" y="4837320"/>
            <a:ext cx="4772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Secuencias e inicializador con mocks.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6263640" y="1261800"/>
            <a:ext cx="5120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1"/>
          <p:cNvSpPr/>
          <p:nvPr/>
        </p:nvSpPr>
        <p:spPr>
          <a:xfrm>
            <a:off x="6263640" y="1261800"/>
            <a:ext cx="72720" cy="77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2"/>
          <p:cNvSpPr/>
          <p:nvPr/>
        </p:nvSpPr>
        <p:spPr>
          <a:xfrm>
            <a:off x="6492240" y="140832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Integración H2/Mongo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3"/>
          <p:cNvSpPr/>
          <p:nvPr/>
        </p:nvSpPr>
        <p:spPr>
          <a:xfrm>
            <a:off x="6492240" y="1764720"/>
            <a:ext cx="4772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UseCase → núcleo → adaptador → base real de prueba.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4"/>
          <p:cNvSpPr/>
          <p:nvPr/>
        </p:nvSpPr>
        <p:spPr>
          <a:xfrm>
            <a:off x="6263640" y="2286000"/>
            <a:ext cx="5120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5"/>
          <p:cNvSpPr/>
          <p:nvPr/>
        </p:nvSpPr>
        <p:spPr>
          <a:xfrm>
            <a:off x="6263640" y="2286000"/>
            <a:ext cx="72720" cy="776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6"/>
          <p:cNvSpPr/>
          <p:nvPr/>
        </p:nvSpPr>
        <p:spPr>
          <a:xfrm>
            <a:off x="6492240" y="243216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E2E H2/Mongo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7"/>
          <p:cNvSpPr/>
          <p:nvPr/>
        </p:nvSpPr>
        <p:spPr>
          <a:xfrm>
            <a:off x="6492240" y="2788920"/>
            <a:ext cx="4772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HTTP → Controller → UseCase → dominio → base.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8"/>
          <p:cNvSpPr/>
          <p:nvPr/>
        </p:nvSpPr>
        <p:spPr>
          <a:xfrm>
            <a:off x="6263640" y="3310200"/>
            <a:ext cx="5120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1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9"/>
          <p:cNvSpPr/>
          <p:nvPr/>
        </p:nvSpPr>
        <p:spPr>
          <a:xfrm>
            <a:off x="6263640" y="3310200"/>
            <a:ext cx="72720" cy="776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0"/>
          <p:cNvSpPr/>
          <p:nvPr/>
        </p:nvSpPr>
        <p:spPr>
          <a:xfrm>
            <a:off x="6492240" y="345636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ArchUnit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1"/>
          <p:cNvSpPr/>
          <p:nvPr/>
        </p:nvSpPr>
        <p:spPr>
          <a:xfrm>
            <a:off x="6492240" y="3813120"/>
            <a:ext cx="4772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Valida que Domain/Application no dependan de capas externas.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2"/>
          <p:cNvSpPr/>
          <p:nvPr/>
        </p:nvSpPr>
        <p:spPr>
          <a:xfrm>
            <a:off x="11338560" y="6446520"/>
            <a:ext cx="502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 arquitectura: qué </a:t>
            </a:r>
            <a:r>
              <a:rPr lang="en-US" sz="2400" b="1" dirty="0" err="1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deben</a:t>
            </a: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</a:t>
            </a: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400" dirty="0" err="1">
                <a:solidFill>
                  <a:srgbClr val="1C2B39"/>
                </a:solidFill>
              </a:rPr>
              <a:t>ArchUnit</a:t>
            </a: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8890">
            <a:solidFill>
              <a:srgbClr val="B7C1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9F7EF"/>
          </a:solidFill>
          <a:ln w="12700">
            <a:solidFill>
              <a:srgbClr val="E9F7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6304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1380744"/>
            <a:ext cx="8869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no depende de Spring, JPA, MongoDB, application ni adapters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9F7EF"/>
          </a:solidFill>
          <a:ln w="12700">
            <a:solidFill>
              <a:srgbClr val="E9F7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9456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2112264"/>
            <a:ext cx="8869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depende de domain; no depende de adapters, frameworks ni REST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83464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92608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REST Adapter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843784"/>
            <a:ext cx="8869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depende de application.port.in; no de port.out ni persistencia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6F8FB"/>
          </a:solidFill>
          <a:ln w="12700">
            <a:solidFill>
              <a:srgbClr val="E6F8F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365760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JPA Adapter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3575304"/>
            <a:ext cx="8869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implementa application.port.out y conoce domain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2976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6F8FB"/>
          </a:solidFill>
          <a:ln w="12700">
            <a:solidFill>
              <a:srgbClr val="E6F8F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38912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Mongo Adapter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4306824"/>
            <a:ext cx="8869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implementa application.port.out y conoce domain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2920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6F8FB"/>
          </a:solidFill>
          <a:ln w="12700">
            <a:solidFill>
              <a:srgbClr val="E6F8F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512064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Bootstrap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5038344"/>
            <a:ext cx="8869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9"/>
                </a:solidFill>
              </a:rPr>
              <a:t>puede conocer todos para ensamblar la aplicación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557784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FFF3E2"/>
          </a:solidFill>
          <a:ln w="13970">
            <a:solidFill>
              <a:srgbClr val="F2A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2497" y="5856732"/>
            <a:ext cx="7808976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B39"/>
                </a:solidFill>
              </a:rPr>
              <a:t>ArchUnit hace fallar el build si una capa interna importa clases externas prohibidas.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50040" y="66019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7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capas de Clean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297680" cy="4297680"/>
          </a:xfrm>
          <a:prstGeom prst="ellipse">
            <a:avLst/>
          </a:prstGeom>
          <a:solidFill>
            <a:srgbClr val="132A4C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3200400" cy="3200400"/>
          </a:xfrm>
          <a:prstGeom prst="ellipse">
            <a:avLst/>
          </a:prstGeom>
          <a:solidFill>
            <a:srgbClr val="1C3A63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971800"/>
            <a:ext cx="2011680" cy="2011680"/>
          </a:xfrm>
          <a:prstGeom prst="ellipse">
            <a:avLst/>
          </a:prstGeom>
          <a:solidFill>
            <a:srgbClr val="2A4D7A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3474720"/>
            <a:ext cx="1005840" cy="1005840"/>
          </a:xfrm>
          <a:prstGeom prst="ellipse">
            <a:avLst/>
          </a:prstGeom>
          <a:solidFill>
            <a:srgbClr val="4FD1C5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32120" y="2029968"/>
            <a:ext cx="91440" cy="91440"/>
          </a:xfrm>
          <a:prstGeom prst="ellipse">
            <a:avLst/>
          </a:prstGeom>
          <a:solidFill>
            <a:srgbClr val="9FB3C8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18928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&amp; Drivers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42432" y="21854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motor-scoring-frameworks — Spring, JPA, MongoDB driver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2120" y="289864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742432" y="2761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Adapters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42432" y="3054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adapter-in-rest, adapter-out-jpa, adapter-out-mongodb — 3 módulos independientes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376732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42432" y="3630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42432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port/in, port/out, UseCases, Services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4636008"/>
            <a:ext cx="91440" cy="914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9" name="Text 17"/>
          <p:cNvSpPr/>
          <p:nvPr/>
        </p:nvSpPr>
        <p:spPr>
          <a:xfrm>
            <a:off x="5742432" y="4498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42432" y="47914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Value Objects, Domain Services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1600200"/>
            <a:ext cx="3794760" cy="4251960"/>
          </a:xfrm>
          <a:prstGeom prst="roundRect">
            <a:avLst>
              <a:gd name="adj" fmla="val 2410"/>
            </a:avLst>
          </a:prstGeom>
          <a:solidFill>
            <a:srgbClr val="132A4C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DEPENDENCIA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dependencias del código fuente solo pueden apuntar hacia adentro. Nada en una capa interna conoce nada de una capa externa.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3300984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no importa Spring ni JPA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92440" y="3922776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depende solo de Domain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4544568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4416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Adapters implementa los puertos de Application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2440" y="5166360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5038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&amp; Drivers configura todo desde afuera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partimos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479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 implementado en Onion y en Hexagonal, este último con adaptadores de persistencia intercambiables H2/JPA y MongoDB, seleccionados vía spring.profiles.active.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278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esta actividad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Proponer una reestructuración del mismo motor bajo Clean Architecture, sin modificar la lógica de negocio ni las reglas de scoring.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9087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0292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partió del árbol de módulos real de Onion y Hexagonal, y se derivó un esquema Clean con puertos de entrada/salida explícitos.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3794760" cy="4251960"/>
          </a:xfrm>
          <a:prstGeom prst="roundRect">
            <a:avLst>
              <a:gd name="adj" fmla="val 2410"/>
            </a:avLst>
          </a:prstGeom>
          <a:solidFill>
            <a:srgbClr val="1C3A63"/>
          </a:solidFill>
          <a:ln w="127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REFERENCIA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244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09244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35204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3520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PREAPROBADA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evaluados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9244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5303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5532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MongoDB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0" y="164520"/>
            <a:ext cx="12191400" cy="453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02920" y="4114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Estructura</a:t>
            </a:r>
            <a:r>
              <a:rPr lang="en-US" sz="28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Clean Architecture </a:t>
            </a:r>
            <a:r>
              <a:rPr lang="en-US" sz="28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por</a:t>
            </a:r>
            <a:r>
              <a:rPr lang="en-US" sz="28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800" b="1" u="none" strike="noStrike" dirty="0" err="1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capas</a:t>
            </a:r>
            <a:r>
              <a:rPr lang="en-US" sz="2800" b="1" u="none" strike="noStrike" dirty="0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(Dependency Rule)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30280" y="8686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capa tiene una responsabilidad y una dirección de dependencia permitida.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3794760" y="1234440"/>
            <a:ext cx="4571640" cy="868320"/>
          </a:xfrm>
          <a:prstGeom prst="roundRect">
            <a:avLst>
              <a:gd name="adj" fmla="val 8421"/>
            </a:avLst>
          </a:prstGeom>
          <a:solidFill>
            <a:srgbClr val="F3E8FF"/>
          </a:solidFill>
          <a:ln w="1524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3840480" y="1344240"/>
            <a:ext cx="448020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Domain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Entidades · Value Objects · Servicios de dominio · Reglas de scoring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3200400" y="2423160"/>
            <a:ext cx="5760360" cy="86832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524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3246120" y="2532960"/>
            <a:ext cx="566892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Application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port/in · port/out · Services · Commands · DTOs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2514600" y="3611880"/>
            <a:ext cx="7131960" cy="868320"/>
          </a:xfrm>
          <a:prstGeom prst="roundRect">
            <a:avLst>
              <a:gd name="adj" fmla="val 8421"/>
            </a:avLst>
          </a:prstGeom>
          <a:solidFill>
            <a:srgbClr val="E8F1FF"/>
          </a:solidFill>
          <a:ln w="1524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2560320" y="3721680"/>
            <a:ext cx="704052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Interface Adapters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REST · JPA Adapter · MongoDB Adapter · Mappers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0"/>
          <p:cNvSpPr/>
          <p:nvPr/>
        </p:nvSpPr>
        <p:spPr>
          <a:xfrm>
            <a:off x="1828800" y="4800600"/>
            <a:ext cx="8503560" cy="86832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1874520" y="4910400"/>
            <a:ext cx="841212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Frameworks &amp; Drivers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Spring · JPA · MongoDB · Transaction · Docker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 flipV="1">
            <a:off x="10771742" y="2011320"/>
            <a:ext cx="360" cy="303588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2788920" y="5989320"/>
            <a:ext cx="6491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Dependency Rule: las dependencias apuntan hacia el núcleo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11338560" y="6446520"/>
            <a:ext cx="502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5DFF"/>
          </a:solidFill>
          <a:ln w="12700">
            <a:solidFill>
              <a:srgbClr val="165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0" y="164520"/>
            <a:ext cx="12191400" cy="453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502920" y="4114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Hexagonal → Clean: reorganización propuesta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30280" y="8686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La lógica no cambia; se mueven responsabilidades a nombres más explícitos de Clean Architecture.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1005840" y="1234440"/>
            <a:ext cx="4297320" cy="50256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 w="15240">
            <a:solidFill>
              <a:srgbClr val="0B1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051560" y="134424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6263640" y="1234440"/>
            <a:ext cx="4297320" cy="50256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 w="15240">
            <a:solidFill>
              <a:srgbClr val="0B1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309360" y="134424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CLEAN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1005840" y="173736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1097280" y="182880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domain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6263640" y="173736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6355080" y="182880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domain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5440680" y="1993320"/>
            <a:ext cx="685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1005840" y="2240280"/>
            <a:ext cx="4297320" cy="5025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1097280" y="233172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application/usecase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6263640" y="2240280"/>
            <a:ext cx="4297320" cy="5025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6355080" y="233172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application/port/in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7"/>
          <p:cNvSpPr/>
          <p:nvPr/>
        </p:nvSpPr>
        <p:spPr>
          <a:xfrm>
            <a:off x="5440680" y="2496240"/>
            <a:ext cx="685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8"/>
          <p:cNvSpPr/>
          <p:nvPr/>
        </p:nvSpPr>
        <p:spPr>
          <a:xfrm>
            <a:off x="1005840" y="274320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1097280" y="283464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domain/repository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0"/>
          <p:cNvSpPr/>
          <p:nvPr/>
        </p:nvSpPr>
        <p:spPr>
          <a:xfrm>
            <a:off x="6263640" y="274320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6355080" y="283464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application/port/out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2"/>
          <p:cNvSpPr/>
          <p:nvPr/>
        </p:nvSpPr>
        <p:spPr>
          <a:xfrm>
            <a:off x="5440680" y="2999160"/>
            <a:ext cx="685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3"/>
          <p:cNvSpPr/>
          <p:nvPr/>
        </p:nvSpPr>
        <p:spPr>
          <a:xfrm>
            <a:off x="1005840" y="3246120"/>
            <a:ext cx="4297320" cy="5025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1097280" y="333756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presentation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5"/>
          <p:cNvSpPr/>
          <p:nvPr/>
        </p:nvSpPr>
        <p:spPr>
          <a:xfrm>
            <a:off x="6263640" y="3246120"/>
            <a:ext cx="4297320" cy="5025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6355080" y="333756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interface-adapters/in/rest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7"/>
          <p:cNvSpPr/>
          <p:nvPr/>
        </p:nvSpPr>
        <p:spPr>
          <a:xfrm>
            <a:off x="5440680" y="3502080"/>
            <a:ext cx="685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8"/>
          <p:cNvSpPr/>
          <p:nvPr/>
        </p:nvSpPr>
        <p:spPr>
          <a:xfrm>
            <a:off x="1005840" y="374904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1097280" y="384048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infrastructure JPA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0"/>
          <p:cNvSpPr/>
          <p:nvPr/>
        </p:nvSpPr>
        <p:spPr>
          <a:xfrm>
            <a:off x="6263640" y="374904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6355080" y="384048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interface-adapters/out/jpa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2"/>
          <p:cNvSpPr/>
          <p:nvPr/>
        </p:nvSpPr>
        <p:spPr>
          <a:xfrm>
            <a:off x="5440680" y="4005000"/>
            <a:ext cx="685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3"/>
          <p:cNvSpPr/>
          <p:nvPr/>
        </p:nvSpPr>
        <p:spPr>
          <a:xfrm>
            <a:off x="1005840" y="4251960"/>
            <a:ext cx="4297320" cy="5025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4"/>
          <p:cNvSpPr/>
          <p:nvPr/>
        </p:nvSpPr>
        <p:spPr>
          <a:xfrm>
            <a:off x="1097280" y="434340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adapter-out-mongodb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5"/>
          <p:cNvSpPr/>
          <p:nvPr/>
        </p:nvSpPr>
        <p:spPr>
          <a:xfrm>
            <a:off x="6263640" y="4251960"/>
            <a:ext cx="4297320" cy="50256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6355080" y="434340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interface-adapters/out/mongodb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7"/>
          <p:cNvSpPr/>
          <p:nvPr/>
        </p:nvSpPr>
        <p:spPr>
          <a:xfrm>
            <a:off x="5440680" y="4507920"/>
            <a:ext cx="685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8"/>
          <p:cNvSpPr/>
          <p:nvPr/>
        </p:nvSpPr>
        <p:spPr>
          <a:xfrm>
            <a:off x="1005840" y="475488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9"/>
          <p:cNvSpPr/>
          <p:nvPr/>
        </p:nvSpPr>
        <p:spPr>
          <a:xfrm>
            <a:off x="1097280" y="484632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configuración Spring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0"/>
          <p:cNvSpPr/>
          <p:nvPr/>
        </p:nvSpPr>
        <p:spPr>
          <a:xfrm>
            <a:off x="6263640" y="4754880"/>
            <a:ext cx="429732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1"/>
          <p:cNvSpPr/>
          <p:nvPr/>
        </p:nvSpPr>
        <p:spPr>
          <a:xfrm>
            <a:off x="6355080" y="4846320"/>
            <a:ext cx="41144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Aptos"/>
                <a:ea typeface="Aptos"/>
              </a:rPr>
              <a:t>frameworks/config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2"/>
          <p:cNvSpPr/>
          <p:nvPr/>
        </p:nvSpPr>
        <p:spPr>
          <a:xfrm>
            <a:off x="5440680" y="5010840"/>
            <a:ext cx="685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3"/>
          <p:cNvSpPr/>
          <p:nvPr/>
        </p:nvSpPr>
        <p:spPr>
          <a:xfrm>
            <a:off x="11338560" y="6446520"/>
            <a:ext cx="502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recomendada refinada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8890">
            <a:solidFill>
              <a:srgbClr val="B7C1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53312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E9F7EF"/>
          </a:solidFill>
          <a:ln w="1524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s-PE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motor-scoring-domain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453896"/>
            <a:ext cx="6858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9"/>
                </a:solidFill>
              </a:rPr>
              <a:t>Entidades, VO, reglas y servicios de dominio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FF3E2"/>
          </a:solidFill>
          <a:ln w="15240">
            <a:solidFill>
              <a:srgbClr val="F2A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motor-scoring-application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2112264"/>
            <a:ext cx="6858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9"/>
                </a:solidFill>
              </a:rPr>
              <a:t>port.in, port.out, use case services, commands, DTOs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670048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1464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52928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motor-scoring-adapter-in-rest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2770632"/>
            <a:ext cx="6858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9"/>
                </a:solidFill>
              </a:rPr>
              <a:t>Controller, request, response, exception handler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328416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2ECFA"/>
          </a:solidFill>
          <a:ln w="15240">
            <a:solidFill>
              <a:srgbClr val="6B4C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11296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motor-scoring-adapter-out-jpa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3429000"/>
            <a:ext cx="6858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9"/>
                </a:solidFill>
              </a:rPr>
              <a:t>JPA/H2 adapters, entities, repositories, mappers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986784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E6F8FB"/>
          </a:solidFill>
          <a:ln w="15240">
            <a:solidFill>
              <a:srgbClr val="00A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9664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motor-scoring-adapter-out-mongodb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4087368"/>
            <a:ext cx="6858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9"/>
                </a:solidFill>
              </a:rPr>
              <a:t>Mongo adapters, documents, repositories, sequence, initializer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645152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5240">
            <a:solidFill>
              <a:srgbClr val="C542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28032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motor-scoring-frameworks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4745736"/>
            <a:ext cx="6858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9"/>
                </a:solidFill>
              </a:rPr>
              <a:t>Spring config, JPA/Mongo config, transaction wrappers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530352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86400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motor-scoring-bootstrap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3400" y="5404104"/>
            <a:ext cx="6858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9"/>
                </a:solidFill>
              </a:rPr>
              <a:t>MotorScoringApplication y application*.yml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619963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F3A"/>
                </a:solidFill>
              </a:rPr>
              <a:t>Refinamiento: separar REST, JPA y MongoDB en módulos distintos para aislar dependencias técnicas.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1750040" y="66019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7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Módulos: Onion real vs Hexagonal real vs Clean propuesta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4348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Onion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9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propuesta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 de uso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Contratos de repositorio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motor-scoring-adapter-in-rest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 JPA/H2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motor-scoring-adapter-out-jpa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 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motor-scoring-adapter-out-mongodb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Config. técnica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+ 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+ adapter-out-mongodb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motor-scoring-frameworks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Arranque Spring Boot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módulos (Onion/Hexagonal)  →  7 módulos (Clean): REST, JPA y MongoDB se separan en módulos Maven independientes.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de entrada y salida (port/in, port/out)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/ 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casos de uso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Onion y Hexagonal viven en application/usecase/. En Clean se tratan explícitamente como puertos de entrada, simétricos a los de salida.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6118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667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CrearSolicitudCreditoUseCase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application/port/in/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4233672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885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EjecutarEvaluacionScoringUseCase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44988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application/port/in/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45352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65392" y="18745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874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/ OUT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65392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persistencia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 de domain/repository/ (Onion y Hexagonal) a application/port/out/, porque son dependencias que necesitan los casos de uso, no el dominio.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65392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SolicitudCreditoRepository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5392" y="3941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SolicitanteRepository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65392" y="4270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ProductoCrediticioRepository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65392" y="4599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ModeloScoringRepository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65392" y="4928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EvaluacionCrediticiaRepository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65392" y="5303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application/port/out/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separar adapters en módulos distintos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adapter-in-rest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conocer Spring Web y application.port.in.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debe tener MongoTemplate ni JpaRepository.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8B7FD6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adapter-out-jpa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286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conocer Spring Data JPA, H2, application.port.out y domain.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adapter-out-mongodb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286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conocer Spring Data MongoDB, application.port.out y domain.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3A1A22"/>
          </a:solidFill>
          <a:ln w="12700">
            <a:solidFill>
              <a:srgbClr val="C0435A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todo estuviera en un solo módulo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controller podría importar accidentalmente MongoTemplate o JpaRepository, y el compilador lo permitiría. El error solo se detecta leyendo código o con ArchUnit.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5352" y="3794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53328"/>
          </a:solidFill>
          <a:ln w="12700">
            <a:solidFill>
              <a:srgbClr val="4FD1C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módulos separados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9672" y="4434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módulo REST no declara dependencias de JPA ni de Mongo en su pom.xml. Ese error de diseño ni siquiera compila: la arquitectura queda protegida en tiempo de build.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adapter-in-rest, adapter-out-jpa y adapter-out-mongodb → 3 módulos Maven, cada uno con su propio pom.xml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ADAPTERS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módulos Maven independientes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adapter-in-rest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motor-scoring-adapter-in-rest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adapter/in/rest/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SolicitudCreditoController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GlobalExceptionHandler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8221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(request / response)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516636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1C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66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pom.xml propio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A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78308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8B7FD6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7830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adapter-out-jpa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motor-scoring-adapter-out-jpa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adapter/out/jpa/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816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SolicitudCreditoJpaRepositoryAdapter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33192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(entity / mapper / repository)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516636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1C3A6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5166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pom.xml propio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A4C"/>
          </a:solidFill>
          <a:ln/>
        </p:spPr>
      </p:sp>
      <p:sp>
        <p:nvSpPr>
          <p:cNvPr id="24" name="Shape 22"/>
          <p:cNvSpPr/>
          <p:nvPr/>
        </p:nvSpPr>
        <p:spPr>
          <a:xfrm>
            <a:off x="8366760" y="178308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17830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adapter-out-mongodb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66760" y="22402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motor-scoring-adapter-out-mongodb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6676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adapter/out/mongodb/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2816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SolicitudCreditoMongoRepositoryAdapter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66760" y="33192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sequence/MongoSequenceService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66760" y="38221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initializer/MongoReferenceDataInitializer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66760" y="516636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1C3A63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166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pom.xml propio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declara solo sus dependencias: REST no tiene Spring Data JPA ni MongoDB en su classpath.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&amp; DRIVERS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técnica y wrappers transaccionales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framework/config/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1C3A6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163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ApplicationBeanConfiguration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30723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renombrada desde OnionBeanConfiguration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347472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1C3A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478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JpaPersistenceConfiguration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38039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H2/JPA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420624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1C3A6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79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MongoPersistenceConfiguration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45354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MongoDB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45352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65392" y="18745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EN CLEAN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65392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Wrappers transaccionales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65392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Aíslan @Transactional del núcleo de aplicación: la anotación de framework queda en Frameworks &amp; Drivers, no en application/service/.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65392" y="36118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36667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TransactionalCrearSolicitudCreditoUseCase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48272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framework/transaction/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65392" y="4233672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42885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TransactionalEjecutarEvaluacionScoringUseCase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48272" y="44988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framework/transaction/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que cambian de ubicación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8920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Onion real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real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9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propuesta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CrearSolicitudCreditoUseCase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application/port/in/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SolicitudCreditoRepository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application/port/out/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SolicitudCreditoController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adapter-in-rest/.../controller/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SolicitudCreditoJpaRepositoryAdapter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infrastructure/persistence/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infrastructure/persistence/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adapter-out-jpa/.../adapter/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SolicitudCreditoMongoRepositoryAdapter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adapter-out-mongodb/.../adapter/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MongoReferenceDataInitializer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adapter-out-mongodb/.../initializer/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TransactionalCrearSolicitudCreditoUseCase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frameworks/framework/transaction/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ApplicationBeanConfiguration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bootstrap/ (OnionBeanConfiguration)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bootstrap/ (OnionBeanConfiguration)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frameworks/framework/config/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módulos Clean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1905"/>
            </a:avLst>
          </a:prstGeom>
          <a:solidFill>
            <a:srgbClr val="081426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motor-scoring-domain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entity/ · valueobject/ · service/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276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motor-scoring-application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596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port/in/ · port/out/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service/ · command/ · dto/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motor-scoring-adapter-in-rest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447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adapter/in/rest/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712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motor-scoring-adapter-out-jpa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032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adapter/out/jpa/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motor-scoring-adapter-out-mongodb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adapter/out/mongodb/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882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motor-scoring-frameworks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202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framework/config/ · framework/transaction/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5468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motor-scoring-bootstrap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788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MotorScoringApplication.java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85432" y="1463040"/>
            <a:ext cx="4754880" cy="4800600"/>
          </a:xfrm>
          <a:prstGeom prst="roundRect">
            <a:avLst>
              <a:gd name="adj" fmla="val 1923"/>
            </a:avLst>
          </a:prstGeom>
          <a:solidFill>
            <a:srgbClr val="132A4C"/>
          </a:solidFill>
          <a:ln/>
        </p:spPr>
      </p:sp>
      <p:sp>
        <p:nvSpPr>
          <p:cNvPr id="21" name="Text 19"/>
          <p:cNvSpPr/>
          <p:nvPr/>
        </p:nvSpPr>
        <p:spPr>
          <a:xfrm>
            <a:off x="7159752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CAMBIA REALMENTE?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9752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módulos Maven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9752" y="23957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lugar de 4 (Onion/Hexagonal): domain, application, 3 adapters, frameworks y bootstrap.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59752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simétricos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59752" y="34930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port/in y port/out conviven en application/, haciendo visibles ambos límites del núcleo.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59752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aislados por pom.xml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59752" y="45902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JPA/H2 y MongoDB quedan en módulos separados; cada uno declara solo sus dependencias reales.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59752" y="5394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sin cambios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9752" y="56875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Entidades, value objects, servicios de dominio y reglas de scoring permanecen idénticos.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arquitecturas, un mismo núcleo de negocio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6B84A3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por capas (domain, application, presentation, infrastructure) dentro de módulos Maven independientes.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32A4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4FD1C5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 puertos y adaptadores; incorpora MongoDB como adaptador de salida real, sin tocar el dominio.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32A4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2C94C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REST, JPA y MongoDB en 3 módulos independientes con pom.xml propio, hace explícitos los puertos in/out y aísla frameworks y transacciones.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0F2A4A"/>
          </a:solidFill>
          <a:ln w="127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de scoring no cambia de comportamiento en ninguna de las tres.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1937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cambia es dónde vive cada dependencia y qué tan explícitos son los límites entre el negocio y el framework — 989 puntos, PREAPROBADA, 9 factores, modelo v1.1.0, en cualquiera de las tres.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2582</Words>
  <Application>Microsoft Office PowerPoint</Application>
  <PresentationFormat>Panorámica</PresentationFormat>
  <Paragraphs>438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Courier New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</cp:lastModifiedBy>
  <cp:revision>3</cp:revision>
  <dcterms:created xsi:type="dcterms:W3CDTF">2026-08-13T02:49:22Z</dcterms:created>
  <dcterms:modified xsi:type="dcterms:W3CDTF">2026-08-13T03:07:32Z</dcterms:modified>
</cp:coreProperties>
</file>